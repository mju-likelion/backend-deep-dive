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들어가며" id="{bb832303-a418-49f6-0c80-bb7e234ec202}">
          <p14:sldIdLst/>
        </p14:section>
        <p14:section name="Default-1" id="{44735f65-d2ab-4cf8-eb83-84e9dede27b0}">
          <p14:sldIdLst>
            <p14:sldId id="256"/>
            <p14:sldId id="257"/>
            <p14:sldId id="258"/>
          </p14:sldIdLst>
        </p14:section>
        <p14:section name="1. 캐시 지역성" id="{ca64d378-cd76-10fa-f47b-a9ffa1f6c993}">
          <p14:sldIdLst/>
        </p14:section>
        <p14:section name="Default-2" id="{45cd8f4e-b8f4-7dcd-e022-2924bd5d30ff}">
          <p14:sldIdLst>
            <p14:sldId id="259"/>
            <p14:sldId id="260"/>
            <p14:sldId id="261"/>
          </p14:sldIdLst>
        </p14:section>
        <p14:section name="2. 해시테이블" id="{1c7dcba4-3be8-a5d4-2b30-394cc92001a9}">
          <p14:sldIdLst/>
        </p14:section>
        <p14:section name="Default-3" id="{23175ea0-0d16-58a1-7dd0-d776c614e69c}">
          <p14:sldIdLst>
            <p14:sldId id="262"/>
            <p14:sldId id="263"/>
            <p14:sldId id="264"/>
          </p14:sldIdLst>
        </p14:section>
        <p14:section name="3. 블룸 필터" id="{502ddba6-79c0-9326-6d41-10f3d8493810}">
          <p14:sldIdLst/>
        </p14:section>
        <p14:section name="Default-4" id="{cbd78030-e5cf-6bf6-b11d-a79a3d93b351}">
          <p14:sldIdLst>
            <p14:sldId id="265"/>
            <p14:sldId id="266"/>
          </p14:sldIdLst>
        </p14:section>
        <p14:section name="4. 스킵리스트" id="{78554e33-9135-baff-e0e2-489459e1729e}">
          <p14:sldIdLst/>
        </p14:section>
        <p14:section name="Default-5" id="{dc325c2f-6ebc-fa69-eb88-bf5f3b034fd4}">
          <p14:sldIdLst>
            <p14:sldId id="267"/>
            <p14:sldId id="268"/>
          </p14:sldIdLst>
        </p14:section>
        <p14:section name="5. B-tree vs LSM" id="{3cfc63ce-ed53-ada4-8b3e-5a1061a908f9}">
          <p14:sldIdLst/>
        </p14:section>
        <p14:section name="Default-6" id="{0c1f41a2-5886-7ecf-f816-670fe55cbb56}">
          <p14:sldIdLst>
            <p14:sldId id="269"/>
            <p14:sldId id="270"/>
            <p14:sldId id="271"/>
            <p14:sldId id="272"/>
          </p14:sldIdLst>
        </p14:section>
        <p14:section name="6. WAL" id="{cdaab9fc-050f-236c-a585-e24bb20ee555}">
          <p14:sldIdLst/>
        </p14:section>
        <p14:section name="Default-7" id="{20e5bba4-1f56-4ac3-ace2-a08965873fd9}">
          <p14:sldIdLst>
            <p14:sldId id="273"/>
          </p14:sldIdLst>
        </p14:section>
        <p14:section name="맺으며" id="{a081f51f-ab74-f6ce-cea9-2c385fd48c51}">
          <p14:sldIdLst/>
        </p14:section>
        <p14:section name="Default-8" id="{3c731b47-d40c-8483-52d3-c4b521f8664a}">
          <p14:sldIdLst>
            <p14:sldId id="274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74151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374151"/>
                </a:solidFill>
                <a:latin typeface="+mn-lt"/>
              </a:rPr>
              <a:t>가운데 삽입+삭제 1회 평균 시간 (JMH)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ArrayList.add(i, x)</c:v>
                </c:pt>
              </c:strCache>
            </c:strRef>
          </c:tx>
          <c:spPr>
            <a:solidFill>
              <a:srgbClr val="2A78D6"/>
            </a:solidFill>
            <a:ln w="2540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1천 개</c:v>
                  </c:pt>
                  <c:pt idx="1">
                    <c:v>1만 개</c:v>
                  </c:pt>
                  <c:pt idx="2">
                    <c:v>10만 개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0.124</c:v>
                </c:pt>
                <c:pt idx="1">
                  <c:v>1.183</c:v>
                </c:pt>
                <c:pt idx="2">
                  <c:v>12.104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LinkedList.add(i, x)</c:v>
                </c:pt>
              </c:strCache>
            </c:strRef>
          </c:tx>
          <c:spPr>
            <a:solidFill>
              <a:srgbClr val="EB6834"/>
            </a:solidFill>
            <a:ln w="25400" cap="flat">
              <a:solidFill>
                <a:srgbClr val="EB68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1천 개</c:v>
                  </c:pt>
                  <c:pt idx="1">
                    <c:v>1만 개</c:v>
                  </c:pt>
                  <c:pt idx="2">
                    <c:v>10만 개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2.58</c:v>
                </c:pt>
                <c:pt idx="1">
                  <c:v>21.077</c:v>
                </c:pt>
                <c:pt idx="2">
                  <c:v>216.842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LinkedList, 노드가 흩어진 경우</c:v>
                </c:pt>
              </c:strCache>
            </c:strRef>
          </c:tx>
          <c:spPr>
            <a:solidFill>
              <a:srgbClr val="1BAF7A"/>
            </a:solidFill>
            <a:ln w="25400" cap="flat">
              <a:solidFill>
                <a:srgbClr val="1BAF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1BAF7A"/>
              </a:solidFill>
              <a:ln w="9525" cap="flat">
                <a:solidFill>
                  <a:srgbClr val="1BAF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1천 개</c:v>
                  </c:pt>
                  <c:pt idx="1">
                    <c:v>1만 개</c:v>
                  </c:pt>
                  <c:pt idx="2">
                    <c:v>10만 개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1.473</c:v>
                </c:pt>
                <c:pt idx="1">
                  <c:v>65.596</c:v>
                </c:pt>
                <c:pt idx="2">
                  <c:v>7124.509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LinkedList 이터레이터 삽입</c:v>
                </c:pt>
              </c:strCache>
            </c:strRef>
          </c:tx>
          <c:spPr>
            <a:solidFill>
              <a:srgbClr val="EDA100"/>
            </a:solidFill>
            <a:ln w="25400" cap="flat">
              <a:solidFill>
                <a:srgbClr val="EDA1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EDA100"/>
              </a:solidFill>
              <a:ln w="9525" cap="flat">
                <a:solidFill>
                  <a:srgbClr val="EDA1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1천 개</c:v>
                  </c:pt>
                  <c:pt idx="1">
                    <c:v>1만 개</c:v>
                  </c:pt>
                  <c:pt idx="2">
                    <c:v>10만 개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0.027</c:v>
                </c:pt>
                <c:pt idx="1">
                  <c:v>0.089</c:v>
                </c:pt>
                <c:pt idx="2">
                  <c:v>0.012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  <c:max val="10000"/>
          <c:min val="0.01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280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6B7280"/>
                    </a:solidFill>
                    <a:latin typeface="+mn-lt"/>
                  </a:rPr>
                  <a:t>µs (로그 축)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74151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374151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374151"/>
                </a:solidFill>
                <a:latin typeface="+mn-lt"/>
              </a:rPr>
              <a:t>DB 조회 수 (요청 2만 건 중)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DB 조회 수</c:v>
                </c:pt>
              </c:strCache>
            </c:strRef>
          </c:tx>
          <c:spPr>
            <a:solidFill>
              <a:srgbClr val="9CA3A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7415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CA3A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CA3A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AF7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캐시만</c:v>
                  </c:pt>
                  <c:pt idx="1">
                    <c:v>null 캐싱</c:v>
                  </c:pt>
                  <c:pt idx="2">
                    <c:v>블룸 필터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19982</c:v>
                </c:pt>
                <c:pt idx="1">
                  <c:v>19981</c:v>
                </c:pt>
                <c:pt idx="2">
                  <c:v>2157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7415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741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40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374151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374151"/>
                </a:solidFill>
                <a:latin typeface="+mn-lt"/>
              </a:rPr>
              <a:t>찾은 행: 세 방식 모두 같다 = 틀린 응답 없음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찾은 행</c:v>
                </c:pt>
              </c:strCache>
            </c:strRef>
          </c:tx>
          <c:spPr>
            <a:solidFill>
              <a:srgbClr val="9CA3A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7415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CA3A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CA3A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AF7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캐시만</c:v>
                  </c:pt>
                  <c:pt idx="1">
                    <c:v>null 캐싱</c:v>
                  </c:pt>
                  <c:pt idx="2">
                    <c:v>블룸 필터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2004</c:v>
                </c:pt>
                <c:pt idx="1">
                  <c:v>2004</c:v>
                </c:pt>
                <c:pt idx="2">
                  <c:v>2004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7415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741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6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E6 실무 자료구조와 저장 엔진 발표를 맡은 parkc31입니다. 해시테이블부터 DB 저장 엔진까지 여섯 가지 자료구조를 메모리에서 디스크 순서로 따라가 보겠습니다.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수업에서는 LinkedList 중간 삽입이 O(1), ArrayList가 O(n)이라고 배웁니다. 그런데 JMH로 직접 재 보니 10만 개에서 ArrayList가 18배 빨랐습니다. 교과서가 틀린 걸까요? 답은 잠시 뒤에 드리고, 먼저 오늘 다룰 내용을 보여 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두 부분입니다. 1부는 메모리 안의 자료구조로 캐시 지역성, 해시테이블, 블룸 필터, 스킵리스트를 봅니다. 2부는 데이터가 메모리를 넘어 디스크로 갔을 때의 B-tree, LSM 트리, WAL입니다. 초록 뱃지가 붙은 두 주제는 직접 측정한 결과를 보여 드립니다. 각 주제는 앞 주제가 남긴 질문에서 출발하니까, 흐름을 따라오시면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빅오는 읽기 한 번을 늘 1로 셉니다. 그런데 L1 캐시면 1나노초, 메인 메모리면 100나노초, SSD면 수십 마이크로초입니다. 그래서 CPU는 두 가지 꾀를 씁니다. 메모리를 캐시 라인 64바이트 단위로 묶어 가져오고, 순서대로 읽으면 프리페처가 다음 줄을 미리 가져옵니다. 이 두 꾀는 데이터가 메모리에 연속으로 붙어 있을 때만 통합니다. 이걸 공간 지역성이라고 합니다. 오른쪽 괄호처럼 1부는 위쪽 세 줄, 2부는 아래쪽 두 줄의 이야기입니다.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LinkedList의 O(1) 삽입은 이미 그 노드를 손에 쥐고 있을 때 이야기입니다. add(i, x)는 먼저 i번째까지 걸어가야 합니다. 그런데 다음 노드 주소는 지금 노드를 읽어야 알 수 있어서, CPU는 읽기 하나가 끝날 때까지 기다렸다가 다음 걸음을 갑니다. 노드가 흩어져 있으면 그 한 걸음마다 메인 메모리까지 갑니다.
ArrayList도 뒤 원소를 미는 O(n) 작업을 하지만, System.arraycopy 한 번으로 연속된 메모리를 통째로 복사합니다. CPU가 가장 잘하는 일입니다.
[깊이] 참조는 4바이트(compressed oops), LinkedList 노드는 헤더 12 + 참조 3개 = 24바이트. 같은 캐시에 들어가는 원소 수가 6배 차이.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JMH로 fork 3회, 측정 10회씩 잰 결과입니다. 로그 축이라 세로 한 칸이 10배입니다.
파랑과 주황 선이 나란히 올라갑니다. 둘 다 O(n)이 맞고, 차이는 기울기가 아니라 높이, 즉 상수항입니다. 10만 개에서 LinkedList는 노드 한 걸음에 약 2나노초를 씁니다. 메인 메모리 왕복이 아니라 캐시에 맞은 속도입니다. 그런데도 18배 느린 건, 다음 주소를 알 때까지 한 걸음씩 기다려야 하기 때문입니다.
초록 선은 같은 LinkedList를 무작위 위치에 끼워 넣으며 만들어서 노드 배치만 흩어 놓은 겁니다. 10만 개에서 7밀리초, 한 걸음에 약 70나노초로 메인 메모리 왕복 수준입니다. 이 값은 오차가 ±5.2ms로 커서 '수백 배' 정도로만 읽어 주세요. 캐시 미스를 하드웨어 카운터로 직접 센 건 아니고 시간에서 추정한 해석입니다.
마지막으로 이터레이터로 위치를 쥐고 있으면 12나노초로 크기와 무관합니다. 교과서가 틀린 게 아니라 add(i, x)가 위치를 찾는 비용을 숨기고 있었던 겁니다.
[질문 대비] 크기를 키워도 순서대로 만든 리스트의 배율은 20.8, 17.8, 17.9배로 거의 일정하다. 격차가 벌어지는 건 흩어진 경우뿐.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방금 본 흩어진 노드 따라가기가 해시테이블 안에도 있습니다. 해시테이블은 키를 해시 함수로 칸 번호로 바꿔 바로 찾아갑니다. 칸 수는 유한하니 서로 다른 키가 같은 칸에 오는 충돌은 피할 수 없습니다. Java HashMap은 같은 칸의 원소를 연결 리스트로 줄 세웁니다. 그래서 조회 비용은 그 칸의 줄 길이입니다.
평균 O(1)은 두 조건 위에서만 성립합니다. 칸이 충분해야 하고, 키가 고르게 퍼져야 합니다. 하나씩 보겠습니다.
[깊이] "Aa"와 "BB"는 hashCode가 2112로 같다. 칸 번호는 hash &amp; (n-1), 즉 하위 비트. 하위 비트만 쓰는 약점은 h ^ (h &gt;&gt;&gt; 16)으로 위쪽 비트를 섞어 보완.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번째 조건을 지키는 게 리사이징입니다. 적재율이 0.75를 넘으면 칸을 2배로 늘립니다. 16칸이면 13번째 원소에서 32칸이 됩니다.
칸 번호가 해시의 하위 비트라서, 2배가 되면 늘어난 비트 하나만 보고 제자리인지 +16인지 정해집니다. 해시를 다시 계산하지 않고 줄을 둘로 쪼개기만 하면 됩니다.
2배씩 늘리니 n개를 넣는 동안 옮기는 총량은 2n 이하, 평균은 O(1)입니다. 하지만 리사이징이 일어나는 그 put 한 번은 실제로 느립니다. 원소가 수백만 개인 맵이면 지연 스파이크가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번째 조건, 키가 고르게 퍼져야 한다. 해시가 완전히 같은 키는 비트를 섞어도 같은 칸에 갑니다. Aa와 BB를 이어 붙이면 해시가 같은 문자열을 얼마든지 만들 수 있고, 2011년 이걸로 웹 서버 CPU를 소진시키는 공격이 알려졌습니다.
JDK 8은 한 칸의 줄이 8개를 넘으면 그 칸만 레드-블랙 트리로 바꿔 최악을 O(log n)으로 묶었습니다. 처음부터 트리로 안 하는 건 트리 노드가 일반 노드의 약 2배 크기라서입니다.
[깊이] 레드-블랙 트리: 노드에 빨강·검정 색을 붙이고 '빨강 연속 금지', '모든 경로의 검정 수 동일' 규칙을 지킨다. 그래서 가장 긴 경로도 가장 짧은 경로의 2배를 넘지 못해 높이가 약 2·log₂(n) 이하. 규칙이 깨지면 색 바꾸기와 회전으로 고친다. Java TreeMap도 이 트리.
[깊이] 8의 근거: 적재율이 고를 때 한 칸 원소 수는 포아송 분포, 8개일 확률 0.00000006 (HashMap.java 주석). 트리 안의 순서는 해시로 먼저 비교하고, 같으면 키가 Comparable일 때 compareTo. Comparable이 아니면 O(log n) 보장이 약해진다.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해시테이블은 있는 키를 빨리 찾는 구조입니다. 그럼 없는 키를 아주 적은 메모리로 거르려면요? 해시를 하나가 아니라 k개 쓰고, 값은 버리고 비트만 남기면 됩니다. 이게 블룸 필터입니다.
원소를 넣을 때 해시 k개가 가리키는 비트를 켭니다. 조회할 때 하나라도 0이면 확실히 없습니다. 넣었다면 반드시 켜져 있어야 하니까요. 모두 1이면 있을 수도 있습니다. 다른 원소가 켜 둔 비트와 우연히 겹쳤을 수 있으니까요.
이게 왜 쓸모 있냐면, 캐시 관통이라는 문제 때문입니다. DB에 없는 키로 요청하면 캐시에도 없으니 매번 DB까지 갑니다. 블룸 필터를 앞에 두면 '확실히 없음'인 요청은 DB에 가지 않고 끝납니다. 여기서 느린 곳은 네트워크 너머의 DB입니다.
[깊이] m = -n·ln(p)/(ln 2)², k = (m/n)·ln 2. p=1%면 m/n≈9.6, k≈7. 비트를 끄면 다른 원소 흔적까지 지워져 삭제 불가(필요하면 counting bloom filter).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Redis와 PostgreSQL로 직접 재현했습니다. 요청 2만 건 중 90%는 매번 다른 없는 키입니다.
블룸 필터를 쓰니 DB 조회가 2만 건에서 2천157건으로 89% 줄었습니다. 남은 건 있는 키 조회 2천4건과 거짓 양성 153건입니다. 오른쪽을 보면 찾은 행은 세 방식 모두 2천4건으로 같습니다. 블룸 필터가 틀린 응답을 만들지 않는다는 뜻입니다.
흔히 대안으로 말하는 null 캐싱, 즉 없는 키도 빈 값으로 캐싱하는 방법은 키가 매번 다르면 한 번도 적중하지 않습니다. DB 조회 수가 그대로입니다.
그리고 필터는 설계 용량 안에서는 설정한 1%를 정확히 지키지만, 2배만 넘게 넣어도 거짓 양성이 16%로 뜁니다. 데이터가 늘면 다시 만들어야 합니다.
[주의] 각 방식 1회 측정. DB 조회 수는 결정적이지만 지연 시간(p99 등)은 흔들릴 수 있어 화면에서 뺐다. null 캐싱은 Redis 쓰기가 늘어 오히려 느려졌지만 배율(2.5배)에는 의미를 두지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해시는 순서를 버립니다. 게임 랭킹처럼 점수 순으로 정렬하고, 구간을 뽑고, 내 순위를 알아야 하면 정렬된 구조가 필요합니다. Redis sorted set이 그런 자료형입니다.
레드-블랙 트리로도 다 O(log n)이지만 Redis는 스킵리스트를 골랐습니다. 정렬된 연결 리스트 위에 일부 노드만 연결한 고속도로 층을 쌓습니다. 위층에서 크게 건너뛰다가 목표를 지나칠 것 같으면 한 층 내려갑니다. 층수는 삽입할 때 동전 던지기로 정해서, 트리처럼 회전으로 균형을 맞출 필요가 없습니다.
Redis 개발자 antirez가 든 이유는 셋입니다. 범위 조회가 맨 아래층 순회 그 자체라 자연스럽고, 확률 p로 메모리를 조절할 수 있고, 구현이 단순하다. 특히 순위는 포인터마다 건너뛴 노드 수를 적어 두고 검색 경로에서 더하기만 하면 됩니다.
[깊이] p=1/4이면 노드당 forward 포인터 평균 1/(1-p)=1.33개. 균형 트리는 노드마다 자식 포인터 2개.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Redis sorted set을 열어 보면 오늘 1부에서 본 것들이 다 들어 있습니다.
원소가 128개 이하이고 값이 64바이트 이하면 스킵리스트도 안 쓰고 listpack, 즉 연속 배열에 넣고 선형 탐색합니다. 작을 땐 붙어 있는 O(n)이 흩어진 O(log n)보다 빠르다는 1장의 결론 그대로입니다.
커지면 두 구조를 같이 둡니다. 멤버로 점수를 찾는 ZSCORE는 해시테이블이 O(1)로, 순서가 필요한 ZRANGE와 ZRANK는 스킵리스트가 맡습니다.
[깊이] 설정값 zset-max-listpack-entries 128, zset-max-listpack-value 64. Redis 7.0 이전에는 listpack 대신 ziplist.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여기서부터 2부입니다. 데이터가 메모리를 넘으면 느린 곳은 디스크가 됩니다. 디스크에서는 CPU 계산은 거의 무시되고, 디스크에 몇 번 가느냐가 전부입니다. 전송 단위도 64바이트 캐시 라인에서 8KB 페이지로 커집니다.
정렬된 데이터를 디스크에 두려고 이진 탐색 트리를 그대로 쓰면, 1억 개일 때 높이가 27입니다. 노드마다 디스크 어딘가에 있으니 한 번 찾는 데 랜덤 읽기 27번입니다. 게다가 노드 하나 읽으려고 8KB를 통째로 읽고 대부분 버립니다.
B-tree는 노드 하나를 페이지 하나로 만들어 키를 500개쯤 넣습니다. 가지가 2개에서 500개가 되니, 500의 세제곱이 1억 2천5백만이라 1억 행도 높이 3~4입니다. 위쪽 층은 모든 검색이 지나가서 늘 메모리에 있으니 실제 디스크 읽기는 리프 한두 번입니다. 1부에서 캐시 라인을 꽉 채우던 원리를 디스크 페이지에 적용한 겁니다.
대가는 쓰기입니다. 키마다 들어갈 리프가 정해져 있어서 그 자리를 고쳐 씁니다. 100바이트를 고쳐도 8KB를 쓰고, 키가 무작위면 매번 다른 페이지라 랜덤 쓰기가 됩니다. 실무에서 UUID를 기본 키로 쓰면 느려진다는 말이 이 이유입니다. AUTO_INCREMENT는 항상 맨 오른쪽 리프에 쌓입니다.
[깊이] 리프가 꽉 차면 둘로 분할(split)하고 위 페이지에 이정표를 추가한다. 실제 DB는 리프에만 데이터를 두고 리프를 옆으로 연결한 B+tree. 범위 조회는 리프를 옆으로 따라가며 읽는다.
[질문 대비] PostgreSQL은? 테이블은 B-tree가 아니라 힙이고 UPDATE는 MVCC라 새 버전을 쓴다. B-tree인 건 인덱스. 테이블 자체가 B+tree인 대표는 InnoDB.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LSM 트리는 발상을 바꿉니다. 정해진 자리를 고쳐 쓰니까 랜덤 쓰기가 생기는 거라면, 아예 고치지 말자. 새로 들어온 것은 메모리에 모았다가 정렬해서 새 파일로 한꺼번에 쓰자.
오른쪽을 보시면, 쓰기는 메모리의 memtable에 들어가는데 이게 바로 1부의 스킵리스트입니다. memtable이 차면 정렬된 그대로 디스크에 SSTable이라는 파일로 쭉 씁니다. 처음부터 끝까지 순차 쓰기이고, 한 번 쓴 파일은 절대 고치지 않습니다. 파일이 쌓이면 백그라운드에서 합쳐서 아래 층으로 내리는데, 이걸 컴팩션이라고 합니다.
왼쪽 B-tree와 비교하면, B-tree는 읽기가 빠르고 예측 가능한 대신 랜덤 쓰기를, LSM은 쓰기가 항상 순차인 대신 여러 곳을 뒤지는 읽기와 반복 재쓰기를 대가로 냅니다. 다음 장에서 쓰기 하나, 읽기 하나를 직접 따라가 보겠습니다.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LSM에서 쓰기 하나와 읽기 하나를 따라가 보겠습니다.
왼쪽 쓰기입니다. 42를 D로 쓰면 먼저 메모리의 memtable, 즉 스킵리스트에 들어갑니다. 수정은 그냥 덮어쓰고, 삭제는 지우는 대신 '삭제됨' 표시를 넣습니다. 디스크의 옛 파일에 옛 값이 남아 있을 수 있으니까요. memtable이 차면 이미 정렬된 상태 그대로 새 파일로 쭉 씁니다. 키가 아무리 무작위로 들어와도 디스크 쓰기는 항상 순차입니다. 파일이 쌓이면 컴팩션이 병합 정렬로 합쳐 아래 층에 새로 쓰면서 옛 버전을 정리합니다. 대가는 같은 데이터를 층마다 다시 쓴다는 것입니다.
오른쪽 읽기입니다. 같은 키의 여러 버전이 여기저기 있을 수 있으니 가장 최신인 memtable부터, 그다음 위층 파일부터 차례로 봅니다. 먼저 만난 값이 답입니다. 없는 키라면 모든 층을 다 뒤져야 하는데, 파일마다 블룸 필터를 둬서 '확실히 없음'인 파일은 디스크에서 아예 안 읽습니다. 1부의 블룸 필터가 저장 엔진 안에서 이렇게 쓰입니다.
[깊이] RocksDB memtable 기본 64MB. 층은 아래로 갈수록 약 10배. L0는 flush된 파일이라 파일끼리 키 범위가 겹칠 수 있어 전부 확인한다. 범위 조회는 memtable과 모든 층을 동시에 읽으며 병합해야 해서 B-tree보다 할 일이 많다.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디스크 자료구조는 세 가지 증폭으로 비교합니다. 읽기 증폭, 쓰기 증폭, 공간 증폭입니다. 2016년 RUM 추측은 셋을 동시에 최소화하는 자료구조는 없다고 정리합니다. B-tree는 읽기 꼭짓점 쪽에, LSM은 쓰기 꼭짓점 쪽에 있습니다.
주의할 점은 LSM이 줄인 건 쓰기 총량이 아니라 랜덤 쓰기라는 겁니다. 컴팩션이 같은 데이터를 층마다 다시 쓰니 디스크에 쓰는 총 바이트는 더 클 수도 있습니다. 'LSM이 쓰기에 강하다'는 건 쓰기 처리량과 지연이 좋다는 뜻입니다.
결국 저장 엔진을 고르는 건 우리 워크로드가 어떤 증폭을 견딜 수 있는지 고르는 일입니다.
[깊이] LSM 안에서도 컴팩션 전략으로 위치가 움직인다. Leveled(RocksDB 기본)는 쓰기를 더 하는 대신 읽기·공간을 아끼고, Size-tiered는 반대.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B-tree도 LSM도 변경을 일단 메모리에 들고 있습니다. 그 상태에서 서버가 죽으면요? 그렇다고 커밋마다 흩어진 페이지를 다 쓰면 랜덤 쓰기라 느립니다.
WAL의 규칙은 한 줄입니다. 데이터 페이지보다 그 변경을 적은 로그를 먼저 디스크에 쓴다. 로그는 파일 끝에 추가만 하니 순차 쓰기이고, 커밋할 때는 이 로그만 fsync하고 응답합니다. 페이지는 체크포인트 때 몰아서 쓰고, 크래시가 나면 로그를 다시 실행해서 복구합니다.
랜덤 쓰기 여러 번을 순차 쓰기 한 번으로 바꾸는, LSM과 같은 아이디어입니다. 그래서 PostgreSQL, MySQL, RocksDB, Cassandra 모두 WAL을 둡니다.
[깊이] PostgreSQL은 체크포인트 뒤 처음 수정하는 페이지를 통째로(8KB) WAL에 기록한다(full_page_writes). 반쪽만 쓰인 torn page를 막기 위해서이고, 체크포인트 직후 WAL 양이 급증하는 이유다. RocksDB의 WAL은 아직 flush 안 된 memtable을 지킨다.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본 여섯 가지를 한 장으로 정리했습니다. 파랑이 1부 메모리, 주황이 2부 디스크입니다. 공통점은 셋입니다. 첫째, 같은 빅오여도 데이터를 어떻게 놓고 몇 번 느린 곳에 가느냐가 실제 비용을 정한다. 둘째, 평균 복잡도는 가정 위의 약속이라 실무 구현은 가정이 깨지는 순간까지 설계한다. 셋째, 디스크에서는 읽기, 쓰기, 공간을 모두 가질 수 없어 무엇을 내줄지 고른다.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반대로 언제 쓰면 안 되는지도 정리했습니다. LinkedList가 쓸모없는 건 아니고, 위치를 쥐고 반복 수정할 때는 진짜 O(1)입니다. 블룸 필터도 같은 없는 키가 반복되는 상황이면 null 캐싱이 더 단순합니다. LSM은 컴팩션 지연 스파이크를 감수해야 하고, HashMap은 평균이 O(1)이어도 리사이징 순간은 O(n)이라 크기를 알면 초기 용량을 지정하는 게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예상 질문과 답
Q1. 원소가 아주 커지면 ArrayList와 LinkedList가 뒤집히나? 아니다. 노드가 순서대로 놓인 리스트는 배율이 20.8, 17.8, 17.9배로 거의 일정하다. 격차가 벌어지는 건 노드가 흩어져 데이터가 캐시를 넘을 때다. 뒤집히는 건 위치를 이미 쥐고 있을 때뿐.
Q2. 트리화 기준이 왜 8이고 64칸 미만이면 왜 안 하나? 정상 해시면 한 칸에 8개 몰릴 확률이 1억분의 6. 작은 테이블의 충돌은 칸 부족 탓이라 리사이징이 먼저.
Q3. 블룸 필터에서 데이터가 삭제되면? 필터에서 지울 수 없지만 지운 키가 '있을 수도'로 남는 건 거짓 양성일 뿐이라 DB 조회 한 번이 더 생기는 정도. 쌓이면 주기적으로 재생성.
Q4. Redis는 왜 스킵리스트? 범위 조회가 맨 아래층 순회 그 자체, span으로 순위 계산 확장이 단순, 작으면 listpack.
Q5. LSM이 쓰기에 강한데 쓰기 증폭이 클 수 있다는 건 모순? 강하다는 건 랜덤 쓰기를 없애 처리량·지연이 좋다는 뜻. 컴팩션 때문에 총 쓰기 바이트는 클 수 있다.
Q6. PostgreSQL은 B-tree DB 아닌가? 테이블은 힙 + MVCC, B-tree인 건 인덱스. 제자리 덮어쓰기의 대표는 InnoDB.
Q7. UUID 기본 키는 왜 느린가? InnoDB는 테이블이 기본 키 순서의 B+tree라 무작위 UUID는 매번 다른 리프로 가서 랜덤 쓰기·페이지 분할이 잦다. AUTO_INCREMENT는 맨 오른쪽 리프에만 쌓인다. 필요하면 UUIDv7처럼 시간순 증가 키.
Q8. LSM에서 없는 키를 찾으면 모든 층을 다 읽나? SSTable마다 블룸 필터가 있어 '확실히 없음'인 파일은 디스크에서 안 읽는다. 필터는 메모리에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62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2336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CBD5E1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987552" y="301752"/>
            <a:ext cx="1060704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실무 자료구조와 저장 엔진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2336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</a:rPr>
              <a:t>시간 복잡도만 보면 놓치는 것들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@parkc31 · 멋사 백엔드 심화 리서치 E6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329184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chip-text"/>
          <p:cNvSpPr/>
          <p:nvPr/>
        </p:nvSpPr>
        <p:spPr>
          <a:xfrm>
            <a:off x="548640" y="329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?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body" hasCustomPrompt="1"/>
          </p:nvPr>
        </p:nvSpPr>
        <p:spPr>
          <a:xfrm>
            <a:off x="987552" y="30175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들어가며</a:t>
            </a:r>
            <a:endParaRPr lang="en-US" sz="14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교과서와 실측이 반대로 나온다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39496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659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O(1)  vs  O(n)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교과서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</a:rPr>
              <a:t>LinkedList 중간 삽입은 링크 두 개만 바꾸면 끝이다.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</a:rPr>
              <a:t>ArrayList는 뒤 원소를 전부 밀어야 한다.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</a:rPr>
              <a:t>그러니 중간 삽입이 잦으면 LinkedList를 쓰라고 배운다.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45352" y="1783080"/>
            <a:ext cx="539496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9672" y="19659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18배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519672" y="2697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실측: 10만 개, 가운데 삽입+삭제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19672" y="310896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</a:rPr>
              <a:t>ArrayList 12.1µs, LinkedList 217µs.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</a:rPr>
              <a:t>크기를 1천, 1만, 10만으로 바꿔도 매번 ArrayList가 이긴다.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493776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교과서가 틀린 걸까?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답은 첫 번째 주제인 캐시 지역성에서 드리겠습니다. 오늘은 이런 '빅오 밖의 비용'을 자료구조 여섯 개로 따라갑니다.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329184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chip-text"/>
          <p:cNvSpPr/>
          <p:nvPr/>
        </p:nvSpPr>
        <p:spPr>
          <a:xfrm>
            <a:off x="548640" y="329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0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body" hasCustomPrompt="1"/>
          </p:nvPr>
        </p:nvSpPr>
        <p:spPr>
          <a:xfrm>
            <a:off x="987552" y="30175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오늘 다룰 것</a:t>
            </a:r>
            <a:endParaRPr lang="en-US" sz="14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메모리에서 디스크로, 여섯 개의 자료구조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1부 · 메모리 안의 자료구조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133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2부 · 디스크 위의 저장 엔진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938528"/>
            <a:ext cx="2624328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16712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53312" y="2167128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캐시 지역성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77240" y="2761488"/>
            <a:ext cx="2167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같은 O(n)인데 왜 18배 차이가 날까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304288" y="3355848"/>
            <a:ext cx="685800" cy="274320"/>
          </a:xfrm>
          <a:prstGeom prst="roundRect">
            <a:avLst>
              <a:gd name="adj" fmla="val 26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04288" y="33558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실측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55848" y="1938528"/>
            <a:ext cx="2624328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84448" y="216712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84448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160520" y="2167128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해시테이블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584448" y="2761488"/>
            <a:ext cx="2167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평균 O(1)을 지키는 리사이징과 트리화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63056" y="1938528"/>
            <a:ext cx="2624328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91656" y="216712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91656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67728" y="2167128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블룸 필터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391656" y="2761488"/>
            <a:ext cx="2167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없는 키를 적은 메모리로 걸러 DB를 지킨다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918704" y="3355848"/>
            <a:ext cx="685800" cy="274320"/>
          </a:xfrm>
          <a:prstGeom prst="roundRect">
            <a:avLst>
              <a:gd name="adj" fmla="val 26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18704" y="33558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실측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970264" y="1938528"/>
            <a:ext cx="2624328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98864" y="216712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98864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774936" y="2167128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스킵리스트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9198864" y="2761488"/>
            <a:ext cx="2167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Redis 랭킹은 왜 트리 대신 이걸 쓸까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8640" y="4498848"/>
            <a:ext cx="2624328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7240" y="472744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4727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353312" y="4727448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B-tree vs LSM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777240" y="5321808"/>
            <a:ext cx="2167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디스크 위에서 읽기와 쓰기 중 무엇을 내주나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355848" y="4498848"/>
            <a:ext cx="2624328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584448" y="472744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84448" y="4727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160520" y="4727448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WAL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3584448" y="5321808"/>
            <a:ext cx="2167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메모리에 든 변경을 크래시에서 지킨다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263640" y="4572000"/>
            <a:ext cx="5349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B5563"/>
                </a:solidFill>
              </a:rPr>
              <a:t>각 주제는 앞 주제가 남긴 질문에서 출발합니다.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실측 두 개는 Docker 안에서 직접 재현했습니다 (JMH, Redis + PostgreSQL).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32918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chip-text"/>
          <p:cNvSpPr/>
          <p:nvPr/>
        </p:nvSpPr>
        <p:spPr>
          <a:xfrm>
            <a:off x="548640" y="329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body" hasCustomPrompt="1"/>
          </p:nvPr>
        </p:nvSpPr>
        <p:spPr>
          <a:xfrm>
            <a:off x="987552" y="30175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1부 · ① 캐시 지역성</a:t>
            </a:r>
            <a:endParaRPr lang="en-US" sz="14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같은 '읽기 1번'도 데이터가 어디 있느냐에 따라 다르다</a:t>
            </a:r>
            <a:endParaRPr lang="en-US" sz="3000" dirty="0"/>
          </a:p>
        </p:txBody>
      </p:sp>
      <p:pic>
        <p:nvPicPr>
          <p:cNvPr id="6" name="Image 0" descr="/Users/parkchan/research-e6/E6_data_structures_storage_engines/images/fig0-1_memory_hierarch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600200"/>
            <a:ext cx="10661904" cy="4023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8064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CPU는 64바이트(캐시 라인)씩 묶어서 가져오고, 순서대로 읽으면 다음 줄을 미리 가져온다(프리페처). 둘 다 데이터가 붙어 있을 때만 통한다.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32918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chip-text"/>
          <p:cNvSpPr/>
          <p:nvPr/>
        </p:nvSpPr>
        <p:spPr>
          <a:xfrm>
            <a:off x="548640" y="329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body" hasCustomPrompt="1"/>
          </p:nvPr>
        </p:nvSpPr>
        <p:spPr>
          <a:xfrm>
            <a:off x="987552" y="30175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1부 · ① 캐시 지역성</a:t>
            </a:r>
            <a:endParaRPr lang="en-US" sz="14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같은 O(n)이어도: 한꺼번에 복사 vs 한 걸음씩 기다리기</a:t>
            </a:r>
            <a:endParaRPr lang="en-US" sz="3000" dirty="0"/>
          </a:p>
        </p:txBody>
      </p:sp>
      <p:pic>
        <p:nvPicPr>
          <p:cNvPr id="6" name="Image 0" descr="/Users/parkchan/research-e6/E6_data_structures_storage_engines/images/fig1-1_arraylist_vs_linked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1308" y="1554480"/>
            <a:ext cx="9778904" cy="49834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32918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chip-text"/>
          <p:cNvSpPr/>
          <p:nvPr/>
        </p:nvSpPr>
        <p:spPr>
          <a:xfrm>
            <a:off x="548640" y="329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body" hasCustomPrompt="1"/>
          </p:nvPr>
        </p:nvSpPr>
        <p:spPr>
          <a:xfrm>
            <a:off x="987552" y="30175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1부 · ① 캐시 지역성 · 실측</a:t>
            </a:r>
            <a:endParaRPr lang="en-US" sz="14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실측: 캐시 안에서도 18배, 캐시 밖이면 수백 배</a:t>
            </a:r>
            <a:endParaRPr lang="en-US" sz="3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600200"/>
          <a:ext cx="70408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955280" y="160020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18배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7955280" y="2194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캐시 안에서도 ArrayList가 빠르다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955280" y="25146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노드 한 걸음 약 2ns. 캐시에 맞았지만 다음 주소를 기다리는 사슬이 남는다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955280" y="320040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ms 단위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7955280" y="3794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노드가 흩어지면 수백 배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955280" y="4114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한 걸음 약 70ns, 메인 메모리 왕복 수준. 같은 LinkedList, 같은 O(n)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955280" y="480060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4"/>
                </a:solidFill>
              </a:rPr>
              <a:t>12ns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7955280" y="5394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위치를 쥐고 있으면 O(1)은 진짜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955280" y="57150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이터레이터 삽입은 크기와 무관하다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32918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chip-text"/>
          <p:cNvSpPr/>
          <p:nvPr/>
        </p:nvSpPr>
        <p:spPr>
          <a:xfrm>
            <a:off x="548640" y="329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body" hasCustomPrompt="1"/>
          </p:nvPr>
        </p:nvSpPr>
        <p:spPr>
          <a:xfrm>
            <a:off x="987552" y="30175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1부 · ② 해시테이블</a:t>
            </a:r>
            <a:endParaRPr lang="en-US" sz="14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충돌하면 같은 칸에 줄을 선다: 조회 비용 = 줄 길이</a:t>
            </a:r>
            <a:endParaRPr lang="en-US" sz="3000" dirty="0"/>
          </a:p>
        </p:txBody>
      </p:sp>
      <p:pic>
        <p:nvPicPr>
          <p:cNvPr id="6" name="Image 0" descr="/Users/parkchan/research-e6/E6_data_structures_storage_engines/images/figH-2_collision_chai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9819" y="1554480"/>
            <a:ext cx="9681882" cy="3291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4983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적재율 = 원소 수 ÷ 칸 수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532180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줄의 평균 길이. 평균 O(1)은 이 값이 작을 때만 성립한다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297680" y="4983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조건 ①: 칸이 충분할 것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297680" y="532180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리사이징이 지킨다 (다음 장)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046720" y="4983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조건 ②: 키가 고르게 퍼질 것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046720" y="532180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깨지면 트리화가 최악을 막는다 (그다음 장)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6053328"/>
            <a:ext cx="54864" cy="384048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605332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앞에서: 흩어진 노드를 따라가는 비용 → 충돌 체인도 결국 작은 LinkedList다. 그래서 줄을 짧게 지켜야 한다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32918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chip-text"/>
          <p:cNvSpPr/>
          <p:nvPr/>
        </p:nvSpPr>
        <p:spPr>
          <a:xfrm>
            <a:off x="548640" y="329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body" hasCustomPrompt="1"/>
          </p:nvPr>
        </p:nvSpPr>
        <p:spPr>
          <a:xfrm>
            <a:off x="987552" y="30175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1부 · ② 해시테이블</a:t>
            </a:r>
            <a:endParaRPr lang="en-US" sz="14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리사이징: 0.75를 넘으면 2배, 원소는 제자리 또는 +16</a:t>
            </a:r>
            <a:endParaRPr lang="en-US" sz="3000" dirty="0"/>
          </a:p>
        </p:txBody>
      </p:sp>
      <p:pic>
        <p:nvPicPr>
          <p:cNvPr id="6" name="Image 0" descr="/Users/parkchan/research-e6/E6_data_structures_storage_engines/images/figH-4_resize_spl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5301" y="1554480"/>
            <a:ext cx="9730917" cy="4023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평균은 O(1)(분할 상환), 그 한 번의 put은 O(n).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원소 수를 알면 처음부터 크게 만든다: HashMap.newHashMap(n) (JDK 19+)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32918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chip-text"/>
          <p:cNvSpPr/>
          <p:nvPr/>
        </p:nvSpPr>
        <p:spPr>
          <a:xfrm>
            <a:off x="548640" y="329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body" hasCustomPrompt="1"/>
          </p:nvPr>
        </p:nvSpPr>
        <p:spPr>
          <a:xfrm>
            <a:off x="987552" y="30175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1부 · ② 해시테이블</a:t>
            </a:r>
            <a:endParaRPr lang="en-US" sz="14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한 칸에 몰리면: 그 칸만 레드-블랙 트리로</a:t>
            </a:r>
            <a:endParaRPr lang="en-US" sz="3000" dirty="0"/>
          </a:p>
        </p:txBody>
      </p:sp>
      <p:pic>
        <p:nvPicPr>
          <p:cNvPr id="6" name="Image 0" descr="/Users/parkchan/research-e6/E6_data_structures_storage_engines/images/fig2-1_hashmap_treeif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9344"/>
            <a:ext cx="6766560" cy="30449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4892040"/>
            <a:ext cx="67665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502920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</a:rPr>
              <a:t>hash flooding (2011):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"Aa"와 "BB"의 해시가 같으니 AaAa, AaBB, BBAa, BBBB도 전부 같다. 해시가 같은 키를 대량으로 보내면 한 줄에 쌓여 넣는 데 O(n²). JDK 8(JEP 180)부터 최악이 O(log n)으로 묶였다.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680960" y="160020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8096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8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595360" y="1600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트리로 바꾸는 기준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595360" y="1984248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정상 해시라면 한 칸에 8개 몰릴 확률은 1억분의 6. 넘었다면 비정상 신호다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680960" y="320040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80960" y="3200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6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8595360" y="3200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리스트로 되돌리는 기준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595360" y="3584448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8과 간격을 둬 경계에서 리스트와 트리를 오가는 걸 막는다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680960" y="480060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80960" y="4800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64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8595360" y="4800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트리화 최소 테이블 크기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595360" y="5184648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작은 테이블의 충돌은 칸 부족 탓. 리사이징이 먼저다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32918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chip-text"/>
          <p:cNvSpPr/>
          <p:nvPr/>
        </p:nvSpPr>
        <p:spPr>
          <a:xfrm>
            <a:off x="548640" y="329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body" hasCustomPrompt="1"/>
          </p:nvPr>
        </p:nvSpPr>
        <p:spPr>
          <a:xfrm>
            <a:off x="987552" y="30175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1부 · ③ 블룸 필터</a:t>
            </a:r>
            <a:endParaRPr lang="en-US" sz="14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블룸 필터: '확실히 없음'만큼은 메모리에서 답한다</a:t>
            </a:r>
            <a:endParaRPr lang="en-US" sz="3000" dirty="0"/>
          </a:p>
        </p:txBody>
      </p:sp>
      <p:pic>
        <p:nvPicPr>
          <p:cNvPr id="6" name="Image 0" descr="/Users/parkchan/research-e6/E6_data_structures_storage_engines/images/fig3-1_bloom_fil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06981"/>
            <a:ext cx="7223760" cy="36841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92440" y="164592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거짓 음성 없음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092440" y="201168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있는데 없다고는 안 한다. 그래서 '없음'이면 DB에 안 가도 된다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92440" y="272491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거짓 양성 있음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092440" y="309067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모두 1이면 '있을 수도'. 그때만 원래대로 DB를 조회한다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092440" y="380390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1%면 원소당 9.6비트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092440" y="4169664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해시 7개. 1억 개도 약 120MB, 키 길이와 무관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092440" y="488289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대가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092440" y="5248656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삭제가 안 되고, 예상 원소 수를 넘기면 다시 만들어야 한다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6053328"/>
            <a:ext cx="54864" cy="384048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605332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앞에서: 해시는 있는 키를 빨리 찾는다 → 해시를 k개 쓰고 값 대신 비트만 남기면, 없는 키를 적은 메모리로 거를 수 있다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32918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chip-text"/>
          <p:cNvSpPr/>
          <p:nvPr/>
        </p:nvSpPr>
        <p:spPr>
          <a:xfrm>
            <a:off x="548640" y="329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body" hasCustomPrompt="1"/>
          </p:nvPr>
        </p:nvSpPr>
        <p:spPr>
          <a:xfrm>
            <a:off x="987552" y="30175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1부 · ③ 블룸 필터 · 실측</a:t>
            </a:r>
            <a:endParaRPr lang="en-US" sz="14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실측: DB 조회 89% 감소, null 캐싱은 무작위 키에 무력</a:t>
            </a:r>
            <a:endParaRPr lang="en-US" sz="3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645920"/>
          <a:ext cx="53949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6245352" y="1645920"/>
          <a:ext cx="53949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57150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Redis + PostgreSQL 10만 행, 요청의 90%가 매번 다른 없는 키. 남은 2,157건 = 있는 키 2,004 + 거짓 양성 153.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필터 용량 안에서는 설정 1% → 실측 1.01%. 용량을 2배 넘겨 넣으면 15.8%로 뛴다.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32918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chip-text"/>
          <p:cNvSpPr/>
          <p:nvPr/>
        </p:nvSpPr>
        <p:spPr>
          <a:xfrm>
            <a:off x="548640" y="329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body" hasCustomPrompt="1"/>
          </p:nvPr>
        </p:nvSpPr>
        <p:spPr>
          <a:xfrm>
            <a:off x="987552" y="30175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1부 · ④ 스킵리스트</a:t>
            </a:r>
            <a:endParaRPr lang="en-US" sz="14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스킵리스트: 고속도로가 있는 정렬된 연결 리스트</a:t>
            </a:r>
            <a:endParaRPr lang="en-US" sz="3000" dirty="0"/>
          </a:p>
        </p:txBody>
      </p:sp>
      <p:pic>
        <p:nvPicPr>
          <p:cNvPr id="6" name="Image 0" descr="/Users/parkchan/research-e6/E6_data_structures_storage_engines/images/fig4-1_skip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554480"/>
            <a:ext cx="9692640" cy="3657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257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층은 동전 던지기로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559612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Redis는 1/4 확률로 한 층 더, 최대 32층. 회전 없이 기대 O(log n)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297680" y="5257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범위 조회가 자연스럽다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297680" y="559612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맨 아래층이 정렬된 리스트. ZRANGE는 옆으로 따라가면 끝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046720" y="5257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순위도 O(log n)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046720" y="559612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포인터마다 건너뛴 노드 수(span)를 저장해 ZRANK를 계산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6053328"/>
            <a:ext cx="54864" cy="384048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605332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앞에서: 해시는 순서를 버린다 → 게임 랭킹처럼 점수 순서가 필요하면?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32918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chip-text"/>
          <p:cNvSpPr/>
          <p:nvPr/>
        </p:nvSpPr>
        <p:spPr>
          <a:xfrm>
            <a:off x="548640" y="329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body" hasCustomPrompt="1"/>
          </p:nvPr>
        </p:nvSpPr>
        <p:spPr>
          <a:xfrm>
            <a:off x="987552" y="30175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1부 · ④ 스킵리스트</a:t>
            </a:r>
            <a:endParaRPr lang="en-US" sz="14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Redis sorted set은 앞의 세 주제를 함께 쓴다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3852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작을 때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39572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128개 이하, 값 64B 이하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0" y="19385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listpack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743200" y="2395728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연속 메모리 배열을 O(n)으로 훑는다. 작으면 포인터를 따라가는 O(log n)보다 빠르고 작다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235440" y="2148840"/>
            <a:ext cx="2103120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35440" y="2148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① 캐시 지역성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1106424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40156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클 때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" y="38587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멤버 → 점수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0" y="34015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dict (해시테이블)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743200" y="3858768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ZSCORE를 O(1)로 찾는다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235440" y="3611880"/>
            <a:ext cx="2103120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35440" y="3611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② 해시테이블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663440"/>
            <a:ext cx="1106424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86460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클 때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" y="532180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점수 순서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0" y="486460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skiplist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2743200" y="5321808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ZRANGE, ZRANK를 O(log n)으로 처리한다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235440" y="5074920"/>
            <a:ext cx="2103120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35440" y="5074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④ 스킵리스트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한 자료구조로 모든 연산을 해결하지 않고, 크기와 연산마다 맞는 구조를 고른다.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329184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chip-text"/>
          <p:cNvSpPr/>
          <p:nvPr/>
        </p:nvSpPr>
        <p:spPr>
          <a:xfrm>
            <a:off x="548640" y="329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body" hasCustomPrompt="1"/>
          </p:nvPr>
        </p:nvSpPr>
        <p:spPr>
          <a:xfrm>
            <a:off x="987552" y="30175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2부 · ⑤ B-tree vs LSM</a:t>
            </a:r>
            <a:endParaRPr lang="en-US" sz="14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디스크에서는 트리의 높이가 곧 디스크에 가는 횟수다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94960" cy="28803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745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B9097"/>
                </a:solidFill>
              </a:rPr>
              <a:t>27번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이진 트리를 디스크에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017520"/>
            <a:ext cx="4846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</a:rPr>
              <a:t>1억 개면 높이 log₂(1억) ≈ 27.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</a:rPr>
              <a:t>노드마다 디스크 어딘가에 있으니 랜덤 읽기 27번.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</a:rPr>
              <a:t>노드 하나 읽으려고 8KB 페이지를 통째로 읽고 버린다.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45352" y="1691640"/>
            <a:ext cx="5394960" cy="28803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9672" y="18745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3번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519672" y="2606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B-tree: 노드 하나 = 페이지 하나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19672" y="3017520"/>
            <a:ext cx="4846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</a:rPr>
              <a:t>8KB 페이지에 키 약 500개 → 가지도 500개.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</a:rPr>
              <a:t>500³ ≈ 1억 2,500만. 1억 행도 높이 3~4.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</a:rPr>
              <a:t>위쪽 층은 늘 버퍼 풀(메모리)에 있어 실제 디스크 읽기는 1~2번.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FF4EC"/>
          </a:solidFill>
          <a:ln w="12700">
            <a:solidFill>
              <a:srgbClr val="FFF4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84632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</a:rPr>
              <a:t>대가는 쓰기: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키마다 들어갈 리프가 정해져 있어 그 자리를 고쳐 쓴다. 100바이트를 고쳐도 8KB 페이지를 쓰고, 키가 무작위면 매번 다른 페이지라 랜덤 쓰기.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</a:rPr>
              <a:t>실무: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InnoDB에 AUTO_INCREMENT 키는 맨 오른쪽 리프에만 쌓이지만, 무작위 UUID는 아무 리프에나 들어가 랜덤 쓰기와 페이지 분할이 잦다.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6053328"/>
            <a:ext cx="54864" cy="384048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605332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앞에서: 정렬된 데이터를 메모리에 두는 법(스킵리스트) → 데이터가 메모리를 넘으면 디스크에 어떻게 두나? 전송 단위만 64B에서 8KB로 커진다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329184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chip-text"/>
          <p:cNvSpPr/>
          <p:nvPr/>
        </p:nvSpPr>
        <p:spPr>
          <a:xfrm>
            <a:off x="548640" y="329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body" hasCustomPrompt="1"/>
          </p:nvPr>
        </p:nvSpPr>
        <p:spPr>
          <a:xfrm>
            <a:off x="987552" y="30175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2부 · ⑤ B-tree vs LSM</a:t>
            </a:r>
            <a:endParaRPr lang="en-US" sz="14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디스크 위의 두 선택: 제자리 덮어쓰기 vs 모았다가 순차로</a:t>
            </a:r>
            <a:endParaRPr lang="en-US" sz="3000" dirty="0"/>
          </a:p>
        </p:txBody>
      </p:sp>
      <p:pic>
        <p:nvPicPr>
          <p:cNvPr id="6" name="Image 0" descr="/Users/parkchan/research-e6/E6_data_structures_storage_engines/images/fig5-1_btree_vs_l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8228" y="1508760"/>
            <a:ext cx="9585064" cy="4526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053328"/>
            <a:ext cx="54864" cy="384048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05332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발상의 전환: 이미 쓴 파일은 절대 고치지 말자. 새로 들어온 것은 메모리에 모아 정렬한 뒤 새 파일로 한꺼번에 쓰자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329184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chip-text"/>
          <p:cNvSpPr/>
          <p:nvPr/>
        </p:nvSpPr>
        <p:spPr>
          <a:xfrm>
            <a:off x="548640" y="329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body" hasCustomPrompt="1"/>
          </p:nvPr>
        </p:nvSpPr>
        <p:spPr>
          <a:xfrm>
            <a:off x="987552" y="30175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2부 · ⑤ B-tree vs LSM</a:t>
            </a:r>
            <a:endParaRPr lang="en-US" sz="14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LSM 따라가기: 쓰기 한 번, 읽기 한 번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쓰기: 42 = 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2128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1945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memtable(스킵리스트)에 넣는다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25603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메모리라 빠르다. 수정은 덮어쓰고, 삭제는 tombstone(삭제 표시)을 넣는다. WAL에도 기록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14553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145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312724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차면 SSTable 파일로 내려쓴다 (flush)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0" y="349300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이미 정렬돼 있으니 앞에서부터 쭉. 완전한 순차 쓰기. 기존 파일은 건드리지 않음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07822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078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405993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파일이 쌓이면 컴팩션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" y="4425696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여러 파일을 병합 정렬해 아래 층에 새로 쓴다. 같은 키는 최신만 남기고 옛 버전·삭제분 정리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01091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010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499262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대가: 같은 데이터를 층마다 다시 쓴다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97280" y="535838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쓰기 총량은 B-tree보다 클 수 있다. 줄인 건 총량이 아니라 랜덤 쓰기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245352" y="164592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읽기: 42는?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245352" y="2212848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45352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793992" y="21945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memtable을 먼저 본다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793992" y="25603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있으면 그게 최신. 끝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245352" y="3145536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45352" y="3145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793992" y="312724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L0 파일들을 최신부터 본다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793992" y="349300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같은 키의 옛 버전이 아래에 있을 수 있어, 위에서 먼저 만난 값이 답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245352" y="4078224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45352" y="4078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793992" y="405993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L1, L2 …는 층마다 파일 하나씩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793992" y="4425696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한 층 안에서는 파일끼리 키 범위가 안 겹친다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245352" y="5010912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45352" y="5010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793992" y="499262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파일마다 블룸 필터로 건너뛴다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793992" y="535838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"이 파일에 42는 확실히 없음"이면 디스크에서 안 읽는다. 1부 ③이 여기서 쓰인다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329184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chip-text"/>
          <p:cNvSpPr/>
          <p:nvPr/>
        </p:nvSpPr>
        <p:spPr>
          <a:xfrm>
            <a:off x="548640" y="329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body" hasCustomPrompt="1"/>
          </p:nvPr>
        </p:nvSpPr>
        <p:spPr>
          <a:xfrm>
            <a:off x="987552" y="30175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2부 · ⑤ B-tree vs LSM</a:t>
            </a:r>
            <a:endParaRPr lang="en-US" sz="14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셋 다 얻을 수는 없다: 어떤 증폭을 받아들일까</a:t>
            </a:r>
            <a:endParaRPr lang="en-US" sz="3000" dirty="0"/>
          </a:p>
        </p:txBody>
      </p:sp>
      <p:pic>
        <p:nvPicPr>
          <p:cNvPr id="6" name="Image 0" descr="/Users/parkchan/research-e6/E6_data_structures_storage_engines/images/fig5-2_rum_triang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43332"/>
            <a:ext cx="6035040" cy="386861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49440" y="169164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읽기 증폭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949440" y="20574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논리적 읽기 1번에 실제로 읽는 페이지·파일 수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949440" y="274320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쓰기 증폭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949440" y="31089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1바이트 쓸 때 디스크에 실제로 쓰는 양. LSM은 컴팩션 때문에 오히려 클 수 있다. LSM이 줄인 건 총량이 아니라 랜덤 쓰기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949440" y="379476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공간 증폭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949440" y="41605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실제 데이터 대비 디스크 사용량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949440" y="4983480"/>
            <a:ext cx="466344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78040" y="5102352"/>
            <a:ext cx="429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워크로드로 고른다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읽기 많음, 트랜잭션, 범위 조회: B-tree 계열 RDB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로그·이벤트·시계열처럼 쓰기 폭주: LSM 검토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329184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chip-text"/>
          <p:cNvSpPr/>
          <p:nvPr/>
        </p:nvSpPr>
        <p:spPr>
          <a:xfrm>
            <a:off x="548640" y="329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body" hasCustomPrompt="1"/>
          </p:nvPr>
        </p:nvSpPr>
        <p:spPr>
          <a:xfrm>
            <a:off x="987552" y="30175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2부 · ⑥ WAL</a:t>
            </a:r>
            <a:endParaRPr lang="en-US" sz="14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WAL: 커밋은 로그 한 줄, 페이지는 나중에</a:t>
            </a:r>
            <a:endParaRPr lang="en-US" sz="3000" dirty="0"/>
          </a:p>
        </p:txBody>
      </p:sp>
      <p:pic>
        <p:nvPicPr>
          <p:cNvPr id="6" name="Image 0" descr="/Users/parkchan/research-e6/E6_data_structures_storage_engines/images/fig6-1_w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961" y="1508760"/>
            <a:ext cx="10015598" cy="4526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053328"/>
            <a:ext cx="54864" cy="384048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05332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앞에서: B-tree도 LSM도 변경을 일단 메모리에 들고 있다 → 그 상태에서 서버가 죽으면?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329184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chip-text"/>
          <p:cNvSpPr/>
          <p:nvPr/>
        </p:nvSpPr>
        <p:spPr>
          <a:xfrm>
            <a:off x="548640" y="329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✓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body" hasCustomPrompt="1"/>
          </p:nvPr>
        </p:nvSpPr>
        <p:spPr>
          <a:xfrm>
            <a:off x="987552" y="30175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정리</a:t>
            </a:r>
            <a:endParaRPr lang="en-US" sz="14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여섯 개의 자료구조, 한 장으로</a:t>
            </a:r>
            <a:endParaRPr lang="en-US" sz="3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383280"/>
                <a:gridCol w="2468880"/>
                <a:gridCol w="32004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자료구조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푸는 문제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대가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실무 포인트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A78D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① ArrayList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연속 메모리로 캐시를 꽉 채운다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 이동 O(n)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리스트의 기본값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A78D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② HashMap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평균 O(1) 조회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리사이징 순간 O(n)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크기를 알면 초기 용량 지정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A78D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③ 블룸 필터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없는 키를 메모리에서 차단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거짓 양성, 삭제 불가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캐시 관통 방어 (DB 조회 89%↓)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A78D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④ 스킵리스트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정렬·범위·순위를 O(log n)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포인터 메모리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Redis sorted set (+ dict, listpack)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8590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⑤ B-tree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페이지 단위로 빠른 읽기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랜덤 쓰기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읽기 위주 RDB (InnoDB)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8590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⑤ LSM 트리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쓰기를 순차로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읽기 증폭, 컴팩션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쓰기 폭주 (RocksDB, Cassandra)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8590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⑥ WAL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빠른 커밋 + 내구성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로그 양, 체크포인트 비용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거의 모든 DB의 기본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329184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chip-text"/>
          <p:cNvSpPr/>
          <p:nvPr/>
        </p:nvSpPr>
        <p:spPr>
          <a:xfrm>
            <a:off x="548640" y="329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!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body" hasCustomPrompt="1"/>
          </p:nvPr>
        </p:nvSpPr>
        <p:spPr>
          <a:xfrm>
            <a:off x="987552" y="30175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트레이드오프와 반론</a:t>
            </a:r>
            <a:endParaRPr lang="en-US" sz="14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언제 쓰면 안 되나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1168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LinkedList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514600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이터레이터로 위치를 쥐고 삽입·삭제를 반복할 때만 의미가 있다. 양 끝 용도는 ArrayDeque가 대부분 더 빠르다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173736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01168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블룸 필터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2514600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같은 없는 키가 반복되면 null 캐싱으로 충분하다. 키가 매번 다른 무작위 공격일 때 필요하다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34340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LSM 트리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8680" y="4846320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쓰기는 순차지만 컴팩션이 몰리면 지연이 튄다. 읽기 위주 트랜잭션 서비스엔 B-tree가 기본값이다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172200" y="406908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434340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HashMap 리사이징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92240" y="4846320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평균은 O(1)이어도 리사이징이 일어나는 put 한 번은 O(n)이다. 큰 맵을 키운다면 초기 용량을 지정한다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질문 받겠습니다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2336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</a:rPr>
              <a:t>본문: E6_data_structures_storage_engines.md · 그림·측정 코드: E6_data_structures_storage_engines/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run_all.sh 한 번으로 모든 측정을 Docker 안에서 재현할 수 있습니다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6 Storage">
  <a:themeElements>
    <a:clrScheme name="E6 Storage">
      <a:dk1>
        <a:srgbClr val="1B1F24"/>
      </a:dk1>
      <a:lt1>
        <a:srgbClr val="FFFFFF"/>
      </a:lt1>
      <a:dk2>
        <a:srgbClr val="16202A"/>
      </a:dk2>
      <a:lt2>
        <a:srgbClr val="F3F4F6"/>
      </a:lt2>
      <a:accent1>
        <a:srgbClr val="E8590C"/>
      </a:accent1>
      <a:accent2>
        <a:srgbClr val="2A78D6"/>
      </a:accent2>
      <a:accent3>
        <a:srgbClr val="1BAF7A"/>
      </a:accent3>
      <a:accent4>
        <a:srgbClr val="EDA100"/>
      </a:accent4>
      <a:accent5>
        <a:srgbClr val="6B7280"/>
      </a:accent5>
      <a:accent6>
        <a:srgbClr val="C2410C"/>
      </a:accent6>
      <a:hlink>
        <a:srgbClr val="2A78D6"/>
      </a:hlink>
      <a:folHlink>
        <a:srgbClr val="6B7280"/>
      </a:folHlink>
    </a:clrScheme>
    <a:fontScheme name="E6 Storag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실무 자료구조와 저장 엔진</dc:title>
  <dc:subject>PptxGenJS Presentation</dc:subject>
  <dc:creator>parkc31</dc:creator>
  <cp:lastModifiedBy>parkc31</cp:lastModifiedBy>
  <cp:revision>1</cp:revision>
  <dcterms:created xsi:type="dcterms:W3CDTF">2026-10-05T13:52:08Z</dcterms:created>
  <dcterms:modified xsi:type="dcterms:W3CDTF">2026-10-05T13:52:08Z</dcterms:modified>
</cp:coreProperties>
</file>