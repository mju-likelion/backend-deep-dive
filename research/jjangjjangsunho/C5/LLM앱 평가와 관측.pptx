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016"/>
    <p:restoredTop sz="94610"/>
  </p:normalViewPr>
  <p:slideViewPr>
    <p:cSldViewPr snapToGrid="0" snapToObjects="1">
      <p:cViewPr varScale="1">
        <p:scale>
          <a:sx n="46" d="100"/>
          <a:sy n="46" d="100"/>
        </p:scale>
        <p:origin x="168" y="1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002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20분 발표. 오늘은 모델 자체가 아니라 LLM 앱을 어떻게 평가하고 안전하게 변경하며 운영 데이터로 다시 개선하는지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8A8A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LIKELION · LLM APP EVALUATION &amp; OBSERVABILITY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58585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58585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86384" y="6583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LIKELION BACKEND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8096" y="1307592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앱 평가와 관측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" y="2221992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5D5D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골든셋부터 회귀 CI, Judge 보정, 프롬프트 운영, 트레이싱, 피드백 루프까지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46520" y="4133088"/>
            <a:ext cx="896112" cy="896112"/>
          </a:xfrm>
          <a:prstGeom prst="roundRect">
            <a:avLst>
              <a:gd name="adj" fmla="val 12245"/>
            </a:avLst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46520" y="446227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EVAL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7342632" y="4581144"/>
            <a:ext cx="256032" cy="0"/>
          </a:xfrm>
          <a:prstGeom prst="line">
            <a:avLst/>
          </a:prstGeom>
          <a:noFill/>
          <a:ln w="17780">
            <a:solidFill>
              <a:srgbClr val="8181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598664" y="4133088"/>
            <a:ext cx="896112" cy="896112"/>
          </a:xfrm>
          <a:prstGeom prst="roundRect">
            <a:avLst>
              <a:gd name="adj" fmla="val 12245"/>
            </a:avLst>
          </a:prstGeom>
          <a:solidFill>
            <a:srgbClr val="7857E8"/>
          </a:solidFill>
          <a:ln w="12700">
            <a:solidFill>
              <a:srgbClr val="7857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598664" y="446227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JUDGE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8494776" y="4581144"/>
            <a:ext cx="256032" cy="0"/>
          </a:xfrm>
          <a:prstGeom prst="line">
            <a:avLst/>
          </a:prstGeom>
          <a:noFill/>
          <a:ln w="17780">
            <a:solidFill>
              <a:srgbClr val="8181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750808" y="4133088"/>
            <a:ext cx="896112" cy="896112"/>
          </a:xfrm>
          <a:prstGeom prst="roundRect">
            <a:avLst>
              <a:gd name="adj" fmla="val 12245"/>
            </a:avLst>
          </a:prstGeom>
          <a:solidFill>
            <a:srgbClr val="3578F6"/>
          </a:solidFill>
          <a:ln w="12700">
            <a:solidFill>
              <a:srgbClr val="3578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750808" y="446227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TRACE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9646920" y="4581144"/>
            <a:ext cx="256032" cy="0"/>
          </a:xfrm>
          <a:prstGeom prst="line">
            <a:avLst/>
          </a:prstGeom>
          <a:noFill/>
          <a:ln w="17780">
            <a:solidFill>
              <a:srgbClr val="8181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902952" y="4133088"/>
            <a:ext cx="896112" cy="896112"/>
          </a:xfrm>
          <a:prstGeom prst="roundRect">
            <a:avLst>
              <a:gd name="adj" fmla="val 12245"/>
            </a:avLst>
          </a:prstGeom>
          <a:solidFill>
            <a:srgbClr val="1E9C67"/>
          </a:solidFill>
          <a:ln w="12700">
            <a:solidFill>
              <a:srgbClr val="1E9C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902952" y="446227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LOOP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6446520" y="5321808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평가 · 배포 · 관측 · 개선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" y="5943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EBEB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장선호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발표 순서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요청한 흐름 그대로, 마지막에 실제 데모 결과를 연결한다.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847088"/>
            <a:ext cx="10378440" cy="493776"/>
          </a:xfrm>
          <a:prstGeom prst="roundRect">
            <a:avLst>
              <a:gd name="adj" fmla="val 14815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78992" y="19842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00784" y="1956816"/>
            <a:ext cx="9098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골든셋 구성과 회귀 테스트를 CI에 넣는 법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68680" y="2505456"/>
            <a:ext cx="10378440" cy="493776"/>
          </a:xfrm>
          <a:prstGeom prst="roundRect">
            <a:avLst>
              <a:gd name="adj" fmla="val 14815"/>
            </a:avLst>
          </a:prstGeom>
          <a:solidFill>
            <a:srgbClr val="F1ECFF"/>
          </a:solidFill>
          <a:ln w="12700">
            <a:solidFill>
              <a:srgbClr val="F1E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78992" y="26426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857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00784" y="2615184"/>
            <a:ext cx="9098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LLM-as-a-Judge의 편향과 보정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868680" y="3163824"/>
            <a:ext cx="10378440" cy="493776"/>
          </a:xfrm>
          <a:prstGeom prst="roundRect">
            <a:avLst>
              <a:gd name="adj" fmla="val 14815"/>
            </a:avLst>
          </a:prstGeom>
          <a:solidFill>
            <a:srgbClr val="ECF3FF"/>
          </a:solidFill>
          <a:ln w="12700">
            <a:solidFill>
              <a:srgbClr val="ECF3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78992" y="3300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578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00784" y="3273552"/>
            <a:ext cx="9098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프롬프트 버저닝과 배포 전략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68680" y="3822192"/>
            <a:ext cx="10378440" cy="493776"/>
          </a:xfrm>
          <a:prstGeom prst="roundRect">
            <a:avLst>
              <a:gd name="adj" fmla="val 14815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78992" y="39593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9C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00784" y="3931920"/>
            <a:ext cx="9098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트레이싱: 입력·출력·토큰·비용·지연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68680" y="4480560"/>
            <a:ext cx="10378440" cy="493776"/>
          </a:xfrm>
          <a:prstGeom prst="roundRect">
            <a:avLst>
              <a:gd name="adj" fmla="val 14815"/>
            </a:avLst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78992" y="46177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AE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00784" y="4590288"/>
            <a:ext cx="9098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 피드백을 평가셋으로 회수하는 루프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68680" y="5138928"/>
            <a:ext cx="10378440" cy="493776"/>
          </a:xfrm>
          <a:prstGeom prst="roundRect">
            <a:avLst>
              <a:gd name="adj" fmla="val 14815"/>
            </a:avLst>
          </a:prstGeom>
          <a:solidFill>
            <a:srgbClr val="FBEDED"/>
          </a:solidFill>
          <a:ln w="12700">
            <a:solidFill>
              <a:srgbClr val="FBED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078992" y="52760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4E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00784" y="5248656"/>
            <a:ext cx="9098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데모: 프롬프트 변경 PR → 골든셋 하락 → CI 실패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58585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· GOLDEN SET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골든셋은 “정답이 검증된 기준 시험지”다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변경 전·후를 같은 시험지로 비교해야 회귀 여부를 판단할 수 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" y="1847088"/>
            <a:ext cx="4617720" cy="3675888"/>
          </a:xfrm>
          <a:prstGeom prst="roundRect">
            <a:avLst>
              <a:gd name="adj" fmla="val 3234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blurRad="1905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87552" y="2112264"/>
            <a:ext cx="1234440" cy="329184"/>
          </a:xfrm>
          <a:prstGeom prst="roundRect">
            <a:avLst>
              <a:gd name="adj" fmla="val 27778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60704" y="219456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GOLDEN CASE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987552" y="2670048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Q. Java에서 클래스를 상속할 때 사용하는 키워드는?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" y="3566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9C6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Expected: extends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87552" y="4096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평가 기준: 핵심 정답 포함 여부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987552" y="4590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메타데이터: 버킷 · 난이도 · 출처 · 버전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5806440" y="19842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골든셋은 유지보수한다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06440" y="2487168"/>
            <a:ext cx="5074920" cy="640080"/>
          </a:xfrm>
          <a:prstGeom prst="roundRect">
            <a:avLst>
              <a:gd name="adj" fmla="val 1857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blurRad="241935000" dist="96774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943600" y="2633472"/>
            <a:ext cx="365760" cy="36576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0" y="272491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9944" y="2624328"/>
            <a:ext cx="4334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잘못된 정답 수정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9944" y="2935224"/>
            <a:ext cx="43342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정답 자체가 틀렸다면 기준부터 고친다.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5806440" y="3273552"/>
            <a:ext cx="5074920" cy="640080"/>
          </a:xfrm>
          <a:prstGeom prst="roundRect">
            <a:avLst>
              <a:gd name="adj" fmla="val 1857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943600" y="3419856"/>
            <a:ext cx="365760" cy="365760"/>
          </a:xfrm>
          <a:prstGeom prst="ellipse">
            <a:avLst/>
          </a:prstGeom>
          <a:solidFill>
            <a:srgbClr val="3578F6"/>
          </a:solidFill>
          <a:ln w="12700">
            <a:solidFill>
              <a:srgbClr val="3578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943600" y="351129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9944" y="3410712"/>
            <a:ext cx="4334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정책 변경 반영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9944" y="3721608"/>
            <a:ext cx="43342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서비스 정책이 바뀌면 기대 답변도 바뀐다.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5806440" y="4059936"/>
            <a:ext cx="5074920" cy="640080"/>
          </a:xfrm>
          <a:prstGeom prst="roundRect">
            <a:avLst>
              <a:gd name="adj" fmla="val 1857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943600" y="4206240"/>
            <a:ext cx="365760" cy="365760"/>
          </a:xfrm>
          <a:prstGeom prst="ellipse">
            <a:avLst/>
          </a:prstGeom>
          <a:solidFill>
            <a:srgbClr val="1E9C67"/>
          </a:solidFill>
          <a:ln w="12700">
            <a:solidFill>
              <a:srgbClr val="1E9C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943600" y="4297680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09944" y="4197096"/>
            <a:ext cx="4334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실패 사례 추가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9944" y="4507992"/>
            <a:ext cx="43342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 중 발견한 문제를 다음 평가에 넣는다.</a:t>
            </a:r>
            <a:endParaRPr lang="en-US" sz="890" dirty="0"/>
          </a:p>
        </p:txBody>
      </p:sp>
      <p:sp>
        <p:nvSpPr>
          <p:cNvPr id="28" name="Shape 26"/>
          <p:cNvSpPr/>
          <p:nvPr/>
        </p:nvSpPr>
        <p:spPr>
          <a:xfrm>
            <a:off x="5806440" y="4846320"/>
            <a:ext cx="5074920" cy="640080"/>
          </a:xfrm>
          <a:prstGeom prst="roundRect">
            <a:avLst>
              <a:gd name="adj" fmla="val 1857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943600" y="4992624"/>
            <a:ext cx="365760" cy="365760"/>
          </a:xfrm>
          <a:prstGeom prst="ellipse">
            <a:avLst/>
          </a:prstGeom>
          <a:solidFill>
            <a:srgbClr val="7857E8"/>
          </a:solidFill>
          <a:ln w="12700">
            <a:solidFill>
              <a:srgbClr val="7857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943600" y="5084064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09944" y="4983480"/>
            <a:ext cx="4334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버전 관리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9944" y="5294376"/>
            <a:ext cx="43342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v1.0, v1.1처럼 과거 평가 기준을 남긴다.</a:t>
            </a:r>
            <a:endParaRPr lang="en-US" sz="89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58585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· GOLDEN SET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버킷과 슬라이스로 “어디서 약한지” 본다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정확도 하나만 보면 문제 유형별 약점이 가려진다.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5257800" cy="3703320"/>
          </a:xfrm>
          <a:prstGeom prst="roundRect">
            <a:avLst>
              <a:gd name="adj" fmla="val 321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87552" y="21214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BUCKET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65960" y="20848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무슨 능력을 평가하는가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2743200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지식 QA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0" y="2752344"/>
            <a:ext cx="2331720" cy="201168"/>
          </a:xfrm>
          <a:prstGeom prst="roundRect">
            <a:avLst>
              <a:gd name="adj" fmla="val 27273"/>
            </a:avLst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286000" y="2752344"/>
            <a:ext cx="1678838" cy="201168"/>
          </a:xfrm>
          <a:prstGeom prst="roundRect">
            <a:avLst>
              <a:gd name="adj" fmla="val 27273"/>
            </a:avLst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81728" y="273405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72%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7552" y="3346704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코드 생성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0" y="3355848"/>
            <a:ext cx="2331720" cy="201168"/>
          </a:xfrm>
          <a:prstGeom prst="roundRect">
            <a:avLst>
              <a:gd name="adj" fmla="val 27273"/>
            </a:avLst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286000" y="3355848"/>
            <a:ext cx="2285086" cy="201168"/>
          </a:xfrm>
          <a:prstGeom prst="roundRect">
            <a:avLst>
              <a:gd name="adj" fmla="val 27273"/>
            </a:avLst>
          </a:prstGeom>
          <a:solidFill>
            <a:srgbClr val="1E9C67"/>
          </a:solidFill>
          <a:ln w="12700">
            <a:solidFill>
              <a:srgbClr val="1E9C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81728" y="333756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9C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98%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87552" y="3950208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수학·논리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0" y="3959352"/>
            <a:ext cx="2331720" cy="201168"/>
          </a:xfrm>
          <a:prstGeom prst="roundRect">
            <a:avLst>
              <a:gd name="adj" fmla="val 27273"/>
            </a:avLst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286000" y="3959352"/>
            <a:ext cx="2238451" cy="201168"/>
          </a:xfrm>
          <a:prstGeom prst="roundRect">
            <a:avLst>
              <a:gd name="adj" fmla="val 27273"/>
            </a:avLst>
          </a:prstGeom>
          <a:solidFill>
            <a:srgbClr val="3578F6"/>
          </a:solidFill>
          <a:ln w="12700">
            <a:solidFill>
              <a:srgbClr val="3578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681728" y="394106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578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96%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87552" y="4553712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한국어 이해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0" y="4562856"/>
            <a:ext cx="2331720" cy="201168"/>
          </a:xfrm>
          <a:prstGeom prst="roundRect">
            <a:avLst>
              <a:gd name="adj" fmla="val 27273"/>
            </a:avLst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2286000" y="4562856"/>
            <a:ext cx="2191817" cy="201168"/>
          </a:xfrm>
          <a:prstGeom prst="roundRect">
            <a:avLst>
              <a:gd name="adj" fmla="val 27273"/>
            </a:avLst>
          </a:prstGeom>
          <a:solidFill>
            <a:srgbClr val="7857E8"/>
          </a:solidFill>
          <a:ln w="12700">
            <a:solidFill>
              <a:srgbClr val="7857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681728" y="454456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857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94%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45352" y="1874520"/>
            <a:ext cx="5212080" cy="3703320"/>
          </a:xfrm>
          <a:prstGeom prst="roundRect">
            <a:avLst>
              <a:gd name="adj" fmla="val 321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92240" y="21214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578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06640" y="20848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어떤 조건에서 성능이 달라지는가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37960" y="2761488"/>
            <a:ext cx="1993392" cy="411480"/>
          </a:xfrm>
          <a:prstGeom prst="roundRect">
            <a:avLst>
              <a:gd name="adj" fmla="val 20000"/>
            </a:avLst>
          </a:prstGeom>
          <a:solidFill>
            <a:srgbClr val="FBEDED"/>
          </a:solidFill>
          <a:ln w="12700">
            <a:solidFill>
              <a:srgbClr val="FBED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611112" y="2880360"/>
            <a:ext cx="18470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D94E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난이도 = 어려움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8778240" y="2761488"/>
            <a:ext cx="1993392" cy="411480"/>
          </a:xfrm>
          <a:prstGeom prst="roundRect">
            <a:avLst>
              <a:gd name="adj" fmla="val 20000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851392" y="2880360"/>
            <a:ext cx="18470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부정문 포함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537960" y="3383280"/>
            <a:ext cx="1993392" cy="411480"/>
          </a:xfrm>
          <a:prstGeom prst="roundRect">
            <a:avLst>
              <a:gd name="adj" fmla="val 20000"/>
            </a:avLst>
          </a:prstGeom>
          <a:solidFill>
            <a:srgbClr val="ECF3FF"/>
          </a:solidFill>
          <a:ln w="12700">
            <a:solidFill>
              <a:srgbClr val="ECF3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611112" y="3502152"/>
            <a:ext cx="18470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3578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500자 이상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8778240" y="3383280"/>
            <a:ext cx="1993392" cy="411480"/>
          </a:xfrm>
          <a:prstGeom prst="roundRect">
            <a:avLst>
              <a:gd name="adj" fmla="val 20000"/>
            </a:avLst>
          </a:prstGeom>
          <a:solidFill>
            <a:srgbClr val="F1ECFF"/>
          </a:solidFill>
          <a:ln w="12700">
            <a:solidFill>
              <a:srgbClr val="F1E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851392" y="3502152"/>
            <a:ext cx="18470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7857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Java 문제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6537960" y="4005072"/>
            <a:ext cx="1993392" cy="411480"/>
          </a:xfrm>
          <a:prstGeom prst="roundRect">
            <a:avLst>
              <a:gd name="adj" fmla="val 20000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611112" y="4123944"/>
            <a:ext cx="18470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E9C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멀티턴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6537960" y="4864608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슬라이스는 “조건을 걸어 필터링한 데이터 집합”이라고 이해하면 쉽다.</a:t>
            </a:r>
            <a:endParaRPr lang="en-US" sz="104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58585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· REGRESSION CI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프롬프트 변경을 CI에서 자동 검증한다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새 프롬프트가 기존에 잘 되던 영역을 망가뜨리면 Merge 전에 막는다.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86384" y="1965960"/>
            <a:ext cx="2057400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96112" y="2084832"/>
            <a:ext cx="1837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9C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93%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" y="2478024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017520" y="1965960"/>
            <a:ext cx="2057400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127248" y="2084832"/>
            <a:ext cx="1837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91%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27248" y="2478024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Candidate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248656" y="1965960"/>
            <a:ext cx="2057400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358384" y="2084832"/>
            <a:ext cx="1837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578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-2%p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58384" y="2478024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점수 하락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479792" y="1965960"/>
            <a:ext cx="2057400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589520" y="2084832"/>
            <a:ext cx="1837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857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85%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589520" y="2478024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중요 버킷 하한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86384" y="3182112"/>
            <a:ext cx="9802368" cy="896112"/>
          </a:xfrm>
          <a:prstGeom prst="roundRect">
            <a:avLst>
              <a:gd name="adj" fmla="val 13265"/>
            </a:avLst>
          </a:prstGeom>
          <a:solidFill>
            <a:srgbClr val="171717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78992" y="3493008"/>
            <a:ext cx="9189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예시 기준: 전체 점수 하락 ≤ 2%p  AND  중요 버킷 점수 ≥ 85%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868680" y="4663440"/>
            <a:ext cx="1572768" cy="749808"/>
          </a:xfrm>
          <a:prstGeom prst="roundRect">
            <a:avLst>
              <a:gd name="adj" fmla="val 15854"/>
            </a:avLst>
          </a:prstGeom>
          <a:solidFill>
            <a:srgbClr val="FFF0E2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50976" y="491947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 생성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41448" y="5047488"/>
            <a:ext cx="438912" cy="0"/>
          </a:xfrm>
          <a:prstGeom prst="line">
            <a:avLst/>
          </a:prstGeom>
          <a:noFill/>
          <a:ln w="19050">
            <a:solidFill>
              <a:srgbClr val="9B9B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2880360" y="4663440"/>
            <a:ext cx="1572768" cy="749808"/>
          </a:xfrm>
          <a:prstGeom prst="roundRect">
            <a:avLst>
              <a:gd name="adj" fmla="val 15854"/>
            </a:avLst>
          </a:prstGeom>
          <a:solidFill>
            <a:srgbClr val="ECF3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962656" y="491947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골든셋 평가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53128" y="5047488"/>
            <a:ext cx="438912" cy="0"/>
          </a:xfrm>
          <a:prstGeom prst="line">
            <a:avLst/>
          </a:prstGeom>
          <a:noFill/>
          <a:ln w="19050">
            <a:solidFill>
              <a:srgbClr val="9B9B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892040" y="4663440"/>
            <a:ext cx="1572768" cy="749808"/>
          </a:xfrm>
          <a:prstGeom prst="roundRect">
            <a:avLst>
              <a:gd name="adj" fmla="val 15854"/>
            </a:avLst>
          </a:prstGeom>
          <a:solidFill>
            <a:srgbClr val="F1EC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974336" y="491947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기준 버전 비교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64808" y="5047488"/>
            <a:ext cx="438912" cy="0"/>
          </a:xfrm>
          <a:prstGeom prst="line">
            <a:avLst/>
          </a:prstGeom>
          <a:noFill/>
          <a:ln w="19050">
            <a:solidFill>
              <a:srgbClr val="9B9B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903720" y="4663440"/>
            <a:ext cx="1572768" cy="749808"/>
          </a:xfrm>
          <a:prstGeom prst="roundRect">
            <a:avLst>
              <a:gd name="adj" fmla="val 15854"/>
            </a:avLst>
          </a:prstGeom>
          <a:solidFill>
            <a:srgbClr val="FBEDED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986016" y="491947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Threshold 검사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476488" y="5047488"/>
            <a:ext cx="438912" cy="0"/>
          </a:xfrm>
          <a:prstGeom prst="line">
            <a:avLst/>
          </a:prstGeom>
          <a:noFill/>
          <a:ln w="19050">
            <a:solidFill>
              <a:srgbClr val="9B9B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8915400" y="4663440"/>
            <a:ext cx="1572768" cy="749808"/>
          </a:xfrm>
          <a:prstGeom prst="roundRect">
            <a:avLst>
              <a:gd name="adj" fmla="val 15854"/>
            </a:avLst>
          </a:prstGeom>
          <a:solidFill>
            <a:srgbClr val="EAF7F1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997696" y="491947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PASS / FAIL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87552" y="580644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핵심: 평가 스크립트가 회귀를 감지하면 exit code 1을 반환하고 CI가 실패한다.</a:t>
            </a:r>
            <a:endParaRPr lang="en-US" sz="112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58585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· LLM-AS-A-JUDGE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정답을 문자열로 비교할 수 없을 때 LLM이 채점자가 된다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설명 품질, 요약, 글쓰기처럼 주관적인 평가 기준에 유용하다.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901952"/>
            <a:ext cx="2971800" cy="3529584"/>
          </a:xfrm>
          <a:prstGeom prst="roundRect">
            <a:avLst>
              <a:gd name="adj" fmla="val 4000"/>
            </a:avLst>
          </a:prstGeom>
          <a:solidFill>
            <a:srgbClr val="ECF3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87552" y="21854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578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INPUT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4128" y="2743200"/>
            <a:ext cx="23591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Candidate Answer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Golden Answer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Rubric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703320" y="3657600"/>
            <a:ext cx="932688" cy="0"/>
          </a:xfrm>
          <a:prstGeom prst="line">
            <a:avLst/>
          </a:prstGeom>
          <a:noFill/>
          <a:ln w="27940">
            <a:solidFill>
              <a:srgbClr val="3578F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636008" y="2231136"/>
            <a:ext cx="2889504" cy="2852928"/>
          </a:xfrm>
          <a:prstGeom prst="roundRect">
            <a:avLst>
              <a:gd name="adj" fmla="val 4167"/>
            </a:avLst>
          </a:prstGeom>
          <a:solidFill>
            <a:srgbClr val="171717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74920" y="3090672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JUDGE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7525512" y="3657600"/>
            <a:ext cx="932688" cy="0"/>
          </a:xfrm>
          <a:prstGeom prst="line">
            <a:avLst/>
          </a:prstGeom>
          <a:noFill/>
          <a:ln w="27940">
            <a:solidFill>
              <a:srgbClr val="FF7A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458200" y="1901952"/>
            <a:ext cx="2971800" cy="3529584"/>
          </a:xfrm>
          <a:prstGeom prst="roundRect">
            <a:avLst>
              <a:gd name="adj" fmla="val 4000"/>
            </a:avLst>
          </a:prstGeom>
          <a:solidFill>
            <a:srgbClr val="FFF0E2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723376" y="21854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OUTPUT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759952" y="2743200"/>
            <a:ext cx="23591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점수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승 / 패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평가 근거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불확실성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5815584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장점: 대규모 자동 평가   |   한계: Judge 역시 LLM이라 편향과 오류가 존재한다.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58585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· BIAS &amp; CALIBRATION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LLM-as-a-Judge의 편향과 보정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Judge 하나의 점수를 절대적인 정답으로 취급하지 않는다.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0469880" cy="71323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60704" y="212140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위치 편향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2606040" y="20848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앞/뒤 배치에 따라 선호가 달라질 수 있다.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7406640" y="2112264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보정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0" y="20848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A/B와 B/A를 모두 평가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822960" y="2834640"/>
            <a:ext cx="10469880" cy="713232"/>
          </a:xfrm>
          <a:prstGeom prst="roundRect">
            <a:avLst>
              <a:gd name="adj" fmla="val 16667"/>
            </a:avLst>
          </a:prstGeom>
          <a:solidFill>
            <a:srgbClr val="ECF3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60704" y="303580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3578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길이 편향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2606040" y="29992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더 긴 답변을 더 좋은 답변으로 볼 수 있다.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7406640" y="3026664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578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보정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046720" y="29992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길이를 평가 기준에서 제외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822960" y="3749040"/>
            <a:ext cx="10469880" cy="713232"/>
          </a:xfrm>
          <a:prstGeom prst="roundRect">
            <a:avLst>
              <a:gd name="adj" fmla="val 16667"/>
            </a:avLst>
          </a:prstGeom>
          <a:solidFill>
            <a:srgbClr val="F1EC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60704" y="395020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7857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스타일 편향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2606040" y="39136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Markdown이나 말투에 점수가 흔들릴 수 있다.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7406640" y="3941064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857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보정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46720" y="39136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정확성 중심 Rubric 사용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822960" y="4663440"/>
            <a:ext cx="10469880" cy="713232"/>
          </a:xfrm>
          <a:prstGeom prst="roundRect">
            <a:avLst>
              <a:gd name="adj" fmla="val 16667"/>
            </a:avLst>
          </a:prstGeom>
          <a:solidFill>
            <a:srgbClr val="EAF7F1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060704" y="486460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E9C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자기 선호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2606040" y="48280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자기 또는 유사 스타일 답변을 선호할 수 있다.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7406640" y="4855464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9C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보정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046720" y="48280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다른 계열 Judge를 함께 사용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1143000" y="5806440"/>
            <a:ext cx="9875520" cy="493776"/>
          </a:xfrm>
          <a:prstGeom prst="roundRect">
            <a:avLst>
              <a:gd name="adj" fmla="val 24074"/>
            </a:avLst>
          </a:prstGeom>
          <a:solidFill>
            <a:srgbClr val="171717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417320" y="5961888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권장 구조: Golden Answer + 명확한 Rubric + Position Swap + Multi-Judge + Human Review</a:t>
            </a:r>
            <a:endParaRPr lang="en-US" sz="106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58585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· PROMPT VERSIONING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프롬프트도 코드처럼 버전과 변경 이력을 관리한다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줄 수정도 응답 품질과 비용을 바꿀 수 있으므로 버전별 평가 결과를 남긴다.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" y="2057400"/>
            <a:ext cx="2487168" cy="2514600"/>
          </a:xfrm>
          <a:prstGeom prst="roundRect">
            <a:avLst>
              <a:gd name="adj" fmla="val 4779"/>
            </a:avLst>
          </a:prstGeom>
          <a:solidFill>
            <a:srgbClr val="FFF0E2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32688" y="23317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v1.0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2834640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 프롬프트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932688" y="3767328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36976" y="3319272"/>
            <a:ext cx="292608" cy="0"/>
          </a:xfrm>
          <a:prstGeom prst="line">
            <a:avLst/>
          </a:prstGeom>
          <a:noFill/>
          <a:ln w="17780">
            <a:solidFill>
              <a:srgbClr val="9E9E9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529584" y="2057400"/>
            <a:ext cx="2487168" cy="2514600"/>
          </a:xfrm>
          <a:prstGeom prst="roundRect">
            <a:avLst>
              <a:gd name="adj" fmla="val 4779"/>
            </a:avLst>
          </a:prstGeom>
          <a:solidFill>
            <a:srgbClr val="ECF3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712464" y="23317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78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v1.1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12464" y="2834640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간결성 지시 추가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3712464" y="3767328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578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92%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016752" y="3319272"/>
            <a:ext cx="292608" cy="0"/>
          </a:xfrm>
          <a:prstGeom prst="line">
            <a:avLst/>
          </a:prstGeom>
          <a:noFill/>
          <a:ln w="17780">
            <a:solidFill>
              <a:srgbClr val="9E9E9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309360" y="2057400"/>
            <a:ext cx="2487168" cy="2514600"/>
          </a:xfrm>
          <a:prstGeom prst="roundRect">
            <a:avLst>
              <a:gd name="adj" fmla="val 4779"/>
            </a:avLst>
          </a:prstGeom>
          <a:solidFill>
            <a:srgbClr val="EAF7F1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92240" y="23317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9C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v1.2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834640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추측 금지 지시 추가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6492240" y="3767328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9C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94%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796528" y="3319272"/>
            <a:ext cx="292608" cy="0"/>
          </a:xfrm>
          <a:prstGeom prst="line">
            <a:avLst/>
          </a:prstGeom>
          <a:noFill/>
          <a:ln w="17780">
            <a:solidFill>
              <a:srgbClr val="9E9E9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089136" y="2057400"/>
            <a:ext cx="2487168" cy="2514600"/>
          </a:xfrm>
          <a:prstGeom prst="roundRect">
            <a:avLst>
              <a:gd name="adj" fmla="val 4779"/>
            </a:avLst>
          </a:prstGeom>
          <a:solidFill>
            <a:srgbClr val="F1EC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272016" y="23317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857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v1.3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72016" y="2834640"/>
            <a:ext cx="2121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 후보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9272016" y="3767328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857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93%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60120" y="4983480"/>
            <a:ext cx="10241280" cy="713232"/>
          </a:xfrm>
          <a:prstGeom prst="roundRect">
            <a:avLst>
              <a:gd name="adj" fmla="val 16667"/>
            </a:avLst>
          </a:prstGeom>
          <a:solidFill>
            <a:srgbClr val="202020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234440" y="5239512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기록 항목: Prompt Version · 변경 이유 · Model · Golden Set Version · Score · 배포 상태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011680" y="5961888"/>
            <a:ext cx="8183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발생 시 v1.3 → v1.2로 즉시 Rollback 가능</a:t>
            </a:r>
            <a:endParaRPr lang="en-US" sz="112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58585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· DEPLOYMENT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새 프롬프트를 안전하게 배포하는 4가지 방법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평가셋을 통과했다고 바로 100% 트래픽에 적용할 필요는 없다.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993392"/>
            <a:ext cx="2578608" cy="3438144"/>
          </a:xfrm>
          <a:prstGeom prst="roundRect">
            <a:avLst>
              <a:gd name="adj" fmla="val 4610"/>
            </a:avLst>
          </a:prstGeom>
          <a:solidFill>
            <a:srgbClr val="FBEDED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50392" y="2276856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4E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배포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100% 사용자에게 즉시 적용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05256" y="3913632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간단하지만 영향 범위가 크다.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3529584" y="1993392"/>
            <a:ext cx="2578608" cy="3438144"/>
          </a:xfrm>
          <a:prstGeom prst="roundRect">
            <a:avLst>
              <a:gd name="adj" fmla="val 4610"/>
            </a:avLst>
          </a:prstGeom>
          <a:solidFill>
            <a:srgbClr val="FFF0E2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94176" y="2276856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Canary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12464" y="2971800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10% → 50% → 100%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3913632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안전성을 확인하며 점진 확대한다.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373368" y="1993392"/>
            <a:ext cx="2578608" cy="3438144"/>
          </a:xfrm>
          <a:prstGeom prst="roundRect">
            <a:avLst>
              <a:gd name="adj" fmla="val 4610"/>
            </a:avLst>
          </a:prstGeom>
          <a:solidFill>
            <a:srgbClr val="F1EC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37960" y="2276856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57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A/B Test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56248" y="2971800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v1과 v2를 동시에 비교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92824" y="3913632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어떤 프롬프트가 더 좋은지 실험한다.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9217152" y="1993392"/>
            <a:ext cx="2578608" cy="3438144"/>
          </a:xfrm>
          <a:prstGeom prst="roundRect">
            <a:avLst>
              <a:gd name="adj" fmla="val 4610"/>
            </a:avLst>
          </a:prstGeom>
          <a:solidFill>
            <a:srgbClr val="ECF3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381744" y="2276856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578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Shadow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00032" y="2971800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 노출 없이 v2 실행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36608" y="3913632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입력으로 위험 없이 검증한다.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1005840" y="5815584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Canary = 안전성 확인   |   A/B = 우열 비교   |   Shadow = 사용자에게 숨긴 채 검증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58585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· TRACING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트레이싱은 “요청 하나의 전체 생애”를 기록한다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무슨 입력이 들어왔고, 어떤 모델이 얼마나 오래·비싸게 응답했는지 연결해서 본다.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2194560"/>
            <a:ext cx="530352" cy="530352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1399032" y="2459736"/>
            <a:ext cx="1453896" cy="0"/>
          </a:xfrm>
          <a:prstGeom prst="line">
            <a:avLst/>
          </a:prstGeom>
          <a:noFill/>
          <a:ln w="19050">
            <a:solidFill>
              <a:srgbClr val="A1A1A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852928" y="2194560"/>
            <a:ext cx="530352" cy="530352"/>
          </a:xfrm>
          <a:prstGeom prst="ellipse">
            <a:avLst/>
          </a:prstGeom>
          <a:solidFill>
            <a:srgbClr val="7857E8"/>
          </a:solidFill>
          <a:ln w="12700">
            <a:solidFill>
              <a:srgbClr val="7857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852928" y="2377440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32888" y="288036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프롬프트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3383280" y="2459736"/>
            <a:ext cx="1453896" cy="0"/>
          </a:xfrm>
          <a:prstGeom prst="line">
            <a:avLst/>
          </a:prstGeom>
          <a:noFill/>
          <a:ln w="19050">
            <a:solidFill>
              <a:srgbClr val="A1A1A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37176" y="2194560"/>
            <a:ext cx="530352" cy="530352"/>
          </a:xfrm>
          <a:prstGeom prst="ellipse">
            <a:avLst/>
          </a:prstGeom>
          <a:solidFill>
            <a:srgbClr val="3578F6"/>
          </a:solidFill>
          <a:ln w="12700">
            <a:solidFill>
              <a:srgbClr val="3578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37176" y="2377440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17136" y="288036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호출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5367528" y="2459736"/>
            <a:ext cx="1453896" cy="0"/>
          </a:xfrm>
          <a:prstGeom prst="line">
            <a:avLst/>
          </a:prstGeom>
          <a:noFill/>
          <a:ln w="19050">
            <a:solidFill>
              <a:srgbClr val="A1A1A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821424" y="2194560"/>
            <a:ext cx="530352" cy="530352"/>
          </a:xfrm>
          <a:prstGeom prst="ellipse">
            <a:avLst/>
          </a:prstGeom>
          <a:solidFill>
            <a:srgbClr val="8F8F8F"/>
          </a:solidFill>
          <a:ln w="12700">
            <a:solidFill>
              <a:srgbClr val="8F8F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821424" y="2377440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01384" y="288036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후처리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7351776" y="2459736"/>
            <a:ext cx="1453896" cy="0"/>
          </a:xfrm>
          <a:prstGeom prst="line">
            <a:avLst/>
          </a:prstGeom>
          <a:noFill/>
          <a:ln w="19050">
            <a:solidFill>
              <a:srgbClr val="A1A1A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805672" y="2194560"/>
            <a:ext cx="530352" cy="530352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805672" y="2377440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85632" y="288036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914400" y="3913632"/>
            <a:ext cx="2148840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24128" y="4032504"/>
            <a:ext cx="1929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857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1,550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24128" y="4425696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Total Tokens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37560" y="3913632"/>
            <a:ext cx="2148840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447288" y="4032504"/>
            <a:ext cx="1929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$0.01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447288" y="4425696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Cost / Request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760720" y="3913632"/>
            <a:ext cx="2148840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870448" y="4032504"/>
            <a:ext cx="1929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578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2.3s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870448" y="4425696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Latency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183880" y="3913632"/>
            <a:ext cx="2148840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293608" y="4032504"/>
            <a:ext cx="1929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9C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v1.4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293608" y="4425696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Prompt Version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14400" y="5138928"/>
            <a:ext cx="9418320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1207008" y="5376672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문제가 생겼을 때 “느린 이유 / 비싼 이유 / 잘못 답한 이유”를 요청 단위로 추적할 수 있다.</a:t>
            </a:r>
            <a:endParaRPr lang="en-US" sz="107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58585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· FEEDBACK LOOP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 피드백을 다시 평가셋으로 회수한다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 중 실제로 실패한 질문이 다음 버전의 가장 가치 있는 평가 데이터가 된다.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591056" cy="804672"/>
          </a:xfrm>
          <a:prstGeom prst="roundRect">
            <a:avLst>
              <a:gd name="adj" fmla="val 14773"/>
            </a:avLst>
          </a:prstGeom>
          <a:solidFill>
            <a:srgbClr val="ECF3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2414016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 피드백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31136" y="2551176"/>
            <a:ext cx="356616" cy="0"/>
          </a:xfrm>
          <a:prstGeom prst="line">
            <a:avLst/>
          </a:prstGeom>
          <a:noFill/>
          <a:ln w="19050">
            <a:solidFill>
              <a:srgbClr val="9D9D9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587752" y="2148840"/>
            <a:ext cx="1591056" cy="804672"/>
          </a:xfrm>
          <a:prstGeom prst="roundRect">
            <a:avLst>
              <a:gd name="adj" fmla="val 14773"/>
            </a:avLst>
          </a:prstGeom>
          <a:solidFill>
            <a:srgbClr val="FFF0E2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679192" y="2414016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실패 사례 후보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78808" y="2551176"/>
            <a:ext cx="356616" cy="0"/>
          </a:xfrm>
          <a:prstGeom prst="line">
            <a:avLst/>
          </a:prstGeom>
          <a:noFill/>
          <a:ln w="19050">
            <a:solidFill>
              <a:srgbClr val="9D9D9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35424" y="2148840"/>
            <a:ext cx="1591056" cy="804672"/>
          </a:xfrm>
          <a:prstGeom prst="roundRect">
            <a:avLst>
              <a:gd name="adj" fmla="val 14773"/>
            </a:avLst>
          </a:prstGeom>
          <a:solidFill>
            <a:srgbClr val="F1EC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26864" y="2414016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Human Review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2551176"/>
            <a:ext cx="356616" cy="0"/>
          </a:xfrm>
          <a:prstGeom prst="line">
            <a:avLst/>
          </a:prstGeom>
          <a:noFill/>
          <a:ln w="19050">
            <a:solidFill>
              <a:srgbClr val="9D9D9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83096" y="2148840"/>
            <a:ext cx="1591056" cy="804672"/>
          </a:xfrm>
          <a:prstGeom prst="roundRect">
            <a:avLst>
              <a:gd name="adj" fmla="val 14773"/>
            </a:avLst>
          </a:prstGeom>
          <a:solidFill>
            <a:srgbClr val="EAF7F1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74536" y="2414016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Golden Answer 확정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74152" y="2551176"/>
            <a:ext cx="356616" cy="0"/>
          </a:xfrm>
          <a:prstGeom prst="line">
            <a:avLst/>
          </a:prstGeom>
          <a:noFill/>
          <a:ln w="19050">
            <a:solidFill>
              <a:srgbClr val="9D9D9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430768" y="2148840"/>
            <a:ext cx="1591056" cy="804672"/>
          </a:xfrm>
          <a:prstGeom prst="roundRect">
            <a:avLst>
              <a:gd name="adj" fmla="val 14773"/>
            </a:avLst>
          </a:prstGeom>
          <a:solidFill>
            <a:srgbClr val="EFEFE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522208" y="2414016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Golden Set 추가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05840" y="3520440"/>
            <a:ext cx="4434840" cy="1874520"/>
          </a:xfrm>
          <a:prstGeom prst="roundRect">
            <a:avLst>
              <a:gd name="adj" fmla="val 6341"/>
            </a:avLst>
          </a:prstGeom>
          <a:solidFill>
            <a:srgbClr val="FBEDED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261872" y="38221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4E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61872" y="4187952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사용자가 “싫어요”를 눌렀다고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바로 골든셋에 넣으면 안 된다.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 오해, 스타일 불만, 중복 데이터일 수도 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06440" y="3520440"/>
            <a:ext cx="4434840" cy="1874520"/>
          </a:xfrm>
          <a:prstGeom prst="roundRect">
            <a:avLst>
              <a:gd name="adj" fmla="val 6341"/>
            </a:avLst>
          </a:prstGeom>
          <a:solidFill>
            <a:srgbClr val="EAF7F1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062472" y="38221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9C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62472" y="4187952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 피드백 = 평가셋 후보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+ 정답 확정 = 골든셋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과정을 반복하면 평가셋이 실제 서비스 실패 패턴을 반영하게 된다.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58585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·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프롬프트 변경 PR이 골든셋 점수를 떨어뜨리면 CI가 실패한다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 데모의 목표와 파일 구조를 한 장으로 정리한다.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2103120"/>
            <a:ext cx="1627632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58368" y="2103120"/>
            <a:ext cx="1627632" cy="91440"/>
          </a:xfrm>
          <a:prstGeom prst="rect">
            <a:avLst/>
          </a:prstGeom>
          <a:solidFill>
            <a:srgbClr val="7857E8"/>
          </a:solidFill>
          <a:ln w="12700">
            <a:solidFill>
              <a:srgbClr val="7857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Prompt 변경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749808" y="276148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system.txt 수정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0" y="2633472"/>
            <a:ext cx="347472" cy="0"/>
          </a:xfrm>
          <a:prstGeom prst="line">
            <a:avLst/>
          </a:prstGeom>
          <a:noFill/>
          <a:ln w="19050">
            <a:solidFill>
              <a:srgbClr val="A2A2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633472" y="2103120"/>
            <a:ext cx="1627632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633472" y="2103120"/>
            <a:ext cx="1627632" cy="91440"/>
          </a:xfrm>
          <a:prstGeom prst="rect">
            <a:avLst/>
          </a:prstGeom>
          <a:solidFill>
            <a:srgbClr val="3578F6"/>
          </a:solidFill>
          <a:ln w="12700">
            <a:solidFill>
              <a:srgbClr val="3578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24912" y="23591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Golden Set 평가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2724912" y="276148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evaluate.py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61104" y="2633472"/>
            <a:ext cx="347472" cy="0"/>
          </a:xfrm>
          <a:prstGeom prst="line">
            <a:avLst/>
          </a:prstGeom>
          <a:noFill/>
          <a:ln w="19050">
            <a:solidFill>
              <a:srgbClr val="A2A2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08576" y="2103120"/>
            <a:ext cx="1627632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608576" y="2103120"/>
            <a:ext cx="1627632" cy="91440"/>
          </a:xfrm>
          <a:prstGeom prst="rect">
            <a:avLst/>
          </a:prstGeom>
          <a:solidFill>
            <a:srgbClr val="1E9C67"/>
          </a:solidFill>
          <a:ln w="12700">
            <a:solidFill>
              <a:srgbClr val="1E9C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700016" y="23591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 비교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700016" y="276148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compare.py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36208" y="2633472"/>
            <a:ext cx="347472" cy="0"/>
          </a:xfrm>
          <a:prstGeom prst="line">
            <a:avLst/>
          </a:prstGeom>
          <a:noFill/>
          <a:ln w="19050">
            <a:solidFill>
              <a:srgbClr val="A2A2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583680" y="2103120"/>
            <a:ext cx="1627632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583680" y="2103120"/>
            <a:ext cx="1627632" cy="9144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675120" y="23591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Threshold 검사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6675120" y="276148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허용 하락 5%p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211312" y="2633472"/>
            <a:ext cx="347472" cy="0"/>
          </a:xfrm>
          <a:prstGeom prst="line">
            <a:avLst/>
          </a:prstGeom>
          <a:noFill/>
          <a:ln w="19050">
            <a:solidFill>
              <a:srgbClr val="A2A2A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558784" y="2103120"/>
            <a:ext cx="1627632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558784" y="2103120"/>
            <a:ext cx="1627632" cy="91440"/>
          </a:xfrm>
          <a:prstGeom prst="rect">
            <a:avLst/>
          </a:prstGeom>
          <a:solidFill>
            <a:srgbClr val="D94E4E"/>
          </a:solidFill>
          <a:ln w="12700">
            <a:solidFill>
              <a:srgbClr val="D94E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650224" y="23591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CI 결과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8650224" y="276148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PASS / FAIL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68680" y="3794760"/>
            <a:ext cx="4846320" cy="1645920"/>
          </a:xfrm>
          <a:prstGeom prst="roundRect">
            <a:avLst>
              <a:gd name="adj" fmla="val 7222"/>
            </a:avLst>
          </a:prstGeom>
          <a:solidFill>
            <a:srgbClr val="202020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115568" y="4114800"/>
            <a:ext cx="4343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drop &gt; 0.05: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print("Regression detected")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F4F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sys.exit(1)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26480" y="3794760"/>
            <a:ext cx="4572000" cy="1645920"/>
          </a:xfrm>
          <a:prstGeom prst="roundRect">
            <a:avLst>
              <a:gd name="adj" fmla="val 7222"/>
            </a:avLst>
          </a:prstGeom>
          <a:solidFill>
            <a:srgbClr val="FBEDED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492240" y="41148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4E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 100%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D94E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Candidate 60%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D94E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Regression detected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05840" y="58338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단, 60%는 compare.py 검증용 임시 점수다. 실제 LLM 평가 결과는 다음 슬라이드의 5/5 = 100%다.</a:t>
            </a:r>
            <a:endParaRPr lang="en-US" sz="94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58585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·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로컬 평가: 골든셋 5문항 모두 통과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OpenAI API를 호출하고, 기대 정답 포함 여부로 자동 채점한 결과다.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810512"/>
            <a:ext cx="7799832" cy="4233672"/>
          </a:xfrm>
          <a:prstGeom prst="roundRect">
            <a:avLst>
              <a:gd name="adj" fmla="val 2808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mnt/data/스크린샷 2026-10-04 오후 6.11.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581" y="1847088"/>
            <a:ext cx="6612255" cy="4160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6099048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IntelliJ Terminal · evaluate.py 실행 결과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668512" y="1920240"/>
            <a:ext cx="2788920" cy="3877056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979408" y="2212848"/>
            <a:ext cx="1234440" cy="329184"/>
          </a:xfrm>
          <a:prstGeom prst="roundRect">
            <a:avLst>
              <a:gd name="adj" fmla="val 27778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9052560" y="2295144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E9C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ACTUAL RESULT</a:t>
            </a:r>
            <a:endParaRPr lang="en-US" sz="870" dirty="0"/>
          </a:p>
        </p:txBody>
      </p:sp>
      <p:sp>
        <p:nvSpPr>
          <p:cNvPr id="11" name="Text 8"/>
          <p:cNvSpPr/>
          <p:nvPr/>
        </p:nvSpPr>
        <p:spPr>
          <a:xfrm>
            <a:off x="8988552" y="2834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E9C6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 / 5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8942832" y="3456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Accuracy 100.00%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098280" y="4041648"/>
            <a:ext cx="19385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Q1 수도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Q2 수식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Q3 HTTP 404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Q4 Java 상속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Q5 SQL SELECT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8961120" y="52303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100%는 “현재 기준 상태”의 점수다. 이후 프롬프트를 변경해 같은 골든셋으로 다시 평가한다.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58585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·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회귀 판별 로직: 통과와 실패를 모두 확인했다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compare.py가 점수 하락을 계산하고 기준을 넘으면 exit code 1을 반환한다.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76656" y="1975104"/>
            <a:ext cx="5358384" cy="2221992"/>
          </a:xfrm>
          <a:prstGeom prst="roundRect">
            <a:avLst>
              <a:gd name="adj" fmla="val 535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mnt/data/스크린샷 2026-10-04 오후 6.53.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68" y="2011680"/>
            <a:ext cx="5242560" cy="21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4251960"/>
            <a:ext cx="528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 100% · Candidate 100% → PASS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181344" y="1975104"/>
            <a:ext cx="5358384" cy="2221992"/>
          </a:xfrm>
          <a:prstGeom prst="roundRect">
            <a:avLst>
              <a:gd name="adj" fmla="val 535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/mnt/data/스크린샷 2026-10-04 오후 6.53.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16" y="2011680"/>
            <a:ext cx="4862439" cy="2148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4251960"/>
            <a:ext cx="5285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 100% · Candidate 60% → Regression detected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841248" y="4736592"/>
            <a:ext cx="10424160" cy="877824"/>
          </a:xfrm>
          <a:prstGeom prst="roundRect">
            <a:avLst>
              <a:gd name="adj" fmla="val 13542"/>
            </a:avLst>
          </a:prstGeom>
          <a:solidFill>
            <a:srgbClr val="171717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1115568" y="50383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판단 규칙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057400" y="4946904"/>
            <a:ext cx="8732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Score Drop &gt; 5%p  →  FAIL   /   Score Drop ≤ 5%p  →  PASS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97280" y="5907024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D94E4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60%는 실제 나쁜 프롬프트 결과가 아니라 compare.py 동작 확인을 위해 만든 테스트 점수다.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58585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·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마지막 단계: GitHub Actions에 연결하면 PR이 자동으로 막힌다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로컬 평가와 회귀 판별은 완료했고, CI 자동화만 연결하면 전체 파이프라인이 완성된다.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2167128"/>
            <a:ext cx="1426464" cy="859536"/>
          </a:xfrm>
          <a:prstGeom prst="roundRect">
            <a:avLst>
              <a:gd name="adj" fmla="val 13830"/>
            </a:avLst>
          </a:prstGeom>
          <a:solidFill>
            <a:srgbClr val="FFF0E2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24597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084832" y="2596896"/>
            <a:ext cx="402336" cy="0"/>
          </a:xfrm>
          <a:prstGeom prst="line">
            <a:avLst/>
          </a:prstGeom>
          <a:noFill/>
          <a:ln w="17780">
            <a:solidFill>
              <a:srgbClr val="9E9E9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487168" y="2167128"/>
            <a:ext cx="1426464" cy="859536"/>
          </a:xfrm>
          <a:prstGeom prst="roundRect">
            <a:avLst>
              <a:gd name="adj" fmla="val 13830"/>
            </a:avLst>
          </a:prstGeom>
          <a:solidFill>
            <a:srgbClr val="ECF3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560320" y="24597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 평가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913632" y="2596896"/>
            <a:ext cx="402336" cy="0"/>
          </a:xfrm>
          <a:prstGeom prst="line">
            <a:avLst/>
          </a:prstGeom>
          <a:noFill/>
          <a:ln w="17780">
            <a:solidFill>
              <a:srgbClr val="9E9E9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315968" y="2167128"/>
            <a:ext cx="1426464" cy="859536"/>
          </a:xfrm>
          <a:prstGeom prst="roundRect">
            <a:avLst>
              <a:gd name="adj" fmla="val 13830"/>
            </a:avLst>
          </a:prstGeom>
          <a:solidFill>
            <a:srgbClr val="ECF3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389120" y="24597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Candidate 평가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5742432" y="2596896"/>
            <a:ext cx="402336" cy="0"/>
          </a:xfrm>
          <a:prstGeom prst="line">
            <a:avLst/>
          </a:prstGeom>
          <a:noFill/>
          <a:ln w="17780">
            <a:solidFill>
              <a:srgbClr val="9E9E9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144768" y="2167128"/>
            <a:ext cx="1426464" cy="859536"/>
          </a:xfrm>
          <a:prstGeom prst="roundRect">
            <a:avLst>
              <a:gd name="adj" fmla="val 13830"/>
            </a:avLst>
          </a:prstGeom>
          <a:solidFill>
            <a:srgbClr val="F1EC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217920" y="24597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점수 비교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571232" y="2596896"/>
            <a:ext cx="402336" cy="0"/>
          </a:xfrm>
          <a:prstGeom prst="line">
            <a:avLst/>
          </a:prstGeom>
          <a:noFill/>
          <a:ln w="17780">
            <a:solidFill>
              <a:srgbClr val="9E9E9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973568" y="2167128"/>
            <a:ext cx="1426464" cy="859536"/>
          </a:xfrm>
          <a:prstGeom prst="roundRect">
            <a:avLst>
              <a:gd name="adj" fmla="val 13830"/>
            </a:avLst>
          </a:prstGeom>
          <a:solidFill>
            <a:srgbClr val="FBEDED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046720" y="24597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Threshold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400032" y="2596896"/>
            <a:ext cx="402336" cy="0"/>
          </a:xfrm>
          <a:prstGeom prst="line">
            <a:avLst/>
          </a:prstGeom>
          <a:noFill/>
          <a:ln w="17780">
            <a:solidFill>
              <a:srgbClr val="9E9E9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802368" y="2167128"/>
            <a:ext cx="1426464" cy="859536"/>
          </a:xfrm>
          <a:prstGeom prst="roundRect">
            <a:avLst>
              <a:gd name="adj" fmla="val 13830"/>
            </a:avLst>
          </a:prstGeom>
          <a:solidFill>
            <a:srgbClr val="FBEDED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875520" y="24597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CI FAIL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914400" y="3749040"/>
            <a:ext cx="10149840" cy="1051560"/>
          </a:xfrm>
          <a:prstGeom prst="roundRect">
            <a:avLst>
              <a:gd name="adj" fmla="val 11304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234440" y="404164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데모에서 얻는 핵심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6120" y="393192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프롬프트도 코드처럼 변경에 의해 성능이 망가질 수 있다.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따라서 “감”이 아니라 골든셋 + 회귀 테스트 + CI로 변경을 검증해야 한다.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1965960" y="534924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240280" y="5532120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프롬프트 변경도 소프트웨어 변경이다.  →  테스트하고, 관측하고, 다시 개선한다.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58585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7C00"/>
                </a:solidFill>
              </a:rPr>
              <a:t>06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8181A"/>
                </a:solidFill>
              </a:rPr>
              <a:t>GitHub </a:t>
            </a:r>
            <a:r>
              <a:rPr sz="2600" b="1" dirty="0" err="1">
                <a:solidFill>
                  <a:srgbClr val="18181A"/>
                </a:solidFill>
              </a:rPr>
              <a:t>Actions에서</a:t>
            </a:r>
            <a:r>
              <a:rPr sz="2600" b="1" dirty="0">
                <a:solidFill>
                  <a:srgbClr val="18181A"/>
                </a:solidFill>
              </a:rPr>
              <a:t> CI </a:t>
            </a:r>
            <a:r>
              <a:rPr sz="2600" b="1" dirty="0" err="1">
                <a:solidFill>
                  <a:srgbClr val="18181A"/>
                </a:solidFill>
              </a:rPr>
              <a:t>FAIL이</a:t>
            </a:r>
            <a:r>
              <a:rPr sz="2600" b="1" dirty="0">
                <a:solidFill>
                  <a:srgbClr val="18181A"/>
                </a:solidFill>
              </a:rPr>
              <a:t> </a:t>
            </a:r>
            <a:r>
              <a:rPr sz="2600" b="1" dirty="0" err="1">
                <a:solidFill>
                  <a:srgbClr val="18181A"/>
                </a:solidFill>
              </a:rPr>
              <a:t>보이는</a:t>
            </a:r>
            <a:r>
              <a:rPr sz="2600" b="1" dirty="0">
                <a:solidFill>
                  <a:srgbClr val="18181A"/>
                </a:solidFill>
              </a:rPr>
              <a:t> </a:t>
            </a:r>
            <a:r>
              <a:rPr sz="2600" b="1" dirty="0" err="1">
                <a:solidFill>
                  <a:srgbClr val="18181A"/>
                </a:solidFill>
              </a:rPr>
              <a:t>화면</a:t>
            </a:r>
            <a:endParaRPr sz="2600" b="1" dirty="0">
              <a:solidFill>
                <a:srgbClr val="18181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6656" y="130759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7A7A7A"/>
                </a:solidFill>
              </a:rPr>
              <a:t>회귀가 감지되면 체크가 Failed로 표시되고, 비교 로그와 exit code 1로 PR Merge를 막을 수 있다.</a:t>
            </a:r>
          </a:p>
        </p:txBody>
      </p:sp>
      <p:pic>
        <p:nvPicPr>
          <p:cNvPr id="6" name="Picture 5" descr="ci_fail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3080"/>
            <a:ext cx="10378440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783080" y="6309360"/>
            <a:ext cx="8595360" cy="420624"/>
          </a:xfrm>
          <a:prstGeom prst="roundRect">
            <a:avLst/>
          </a:prstGeom>
          <a:solidFill>
            <a:srgbClr val="18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6409944"/>
            <a:ext cx="8321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예시 화면: Prompt Regression Test가 실패하면 Candidate 점수 하락과 exit code 1을 함께 확인할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6537960"/>
            <a:ext cx="3291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28282"/>
                </a:solidFill>
              </a:rPr>
              <a:t>LIKELION · LLM APP EVALUATION &amp; OBSERVABILITY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6480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28282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WRAP-UP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평가와 관측은 하나의 루프다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325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F6F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배포 전에 막고, 배포 후에 관측하고, 운영 실패를 다시 평가 데이터로 되돌린다.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1965960" cy="804672"/>
          </a:xfrm>
          <a:prstGeom prst="roundRect">
            <a:avLst>
              <a:gd name="adj" fmla="val 14773"/>
            </a:avLst>
          </a:prstGeom>
          <a:solidFill>
            <a:srgbClr val="FFF0E2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51560" y="24688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Golden Set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3657600" y="1874520"/>
            <a:ext cx="1965960" cy="804672"/>
          </a:xfrm>
          <a:prstGeom prst="roundRect">
            <a:avLst>
              <a:gd name="adj" fmla="val 14773"/>
            </a:avLst>
          </a:prstGeom>
          <a:solidFill>
            <a:srgbClr val="FBEDED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94760" y="21488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Regression CI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537960" y="2194560"/>
            <a:ext cx="1965960" cy="804672"/>
          </a:xfrm>
          <a:prstGeom prst="roundRect">
            <a:avLst>
              <a:gd name="adj" fmla="val 14773"/>
            </a:avLst>
          </a:prstGeom>
          <a:solidFill>
            <a:srgbClr val="F1EC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75120" y="24688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Prompt Deploy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7635240" y="4434840"/>
            <a:ext cx="1965960" cy="804672"/>
          </a:xfrm>
          <a:prstGeom prst="roundRect">
            <a:avLst>
              <a:gd name="adj" fmla="val 14773"/>
            </a:avLst>
          </a:prstGeom>
          <a:solidFill>
            <a:srgbClr val="ECF3FF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Tracing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4480560" y="4892040"/>
            <a:ext cx="1965960" cy="804672"/>
          </a:xfrm>
          <a:prstGeom prst="roundRect">
            <a:avLst>
              <a:gd name="adj" fmla="val 14773"/>
            </a:avLst>
          </a:prstGeom>
          <a:solidFill>
            <a:srgbClr val="EAF7F1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17720" y="51663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User Feedback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1143000" y="4389120"/>
            <a:ext cx="1965960" cy="804672"/>
          </a:xfrm>
          <a:prstGeom prst="roundRect">
            <a:avLst>
              <a:gd name="adj" fmla="val 14773"/>
            </a:avLst>
          </a:prstGeom>
          <a:solidFill>
            <a:srgbClr val="FFF7DC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80160" y="46634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171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Dataset Update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2880360" y="2596896"/>
            <a:ext cx="777240" cy="0"/>
          </a:xfrm>
          <a:prstGeom prst="line">
            <a:avLst/>
          </a:prstGeom>
          <a:noFill/>
          <a:ln w="25400">
            <a:solidFill>
              <a:srgbClr val="FF7A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623560" y="2276856"/>
            <a:ext cx="914400" cy="320040"/>
          </a:xfrm>
          <a:prstGeom prst="line">
            <a:avLst/>
          </a:prstGeom>
          <a:noFill/>
          <a:ln w="25400">
            <a:solidFill>
              <a:srgbClr val="D94E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498080" y="2999232"/>
            <a:ext cx="621792" cy="1435608"/>
          </a:xfrm>
          <a:prstGeom prst="line">
            <a:avLst/>
          </a:prstGeom>
          <a:noFill/>
          <a:ln w="25400">
            <a:solidFill>
              <a:srgbClr val="785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635240" y="4837176"/>
            <a:ext cx="0" cy="411480"/>
          </a:xfrm>
          <a:prstGeom prst="line">
            <a:avLst/>
          </a:prstGeom>
          <a:noFill/>
          <a:ln w="25400">
            <a:solidFill>
              <a:srgbClr val="3578F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480560" y="5276088"/>
            <a:ext cx="0" cy="0"/>
          </a:xfrm>
          <a:prstGeom prst="line">
            <a:avLst/>
          </a:prstGeom>
          <a:noFill/>
          <a:ln w="25400">
            <a:solidFill>
              <a:srgbClr val="1E9C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965960" y="4389120"/>
            <a:ext cx="0" cy="0"/>
          </a:xfrm>
          <a:prstGeom prst="line">
            <a:avLst/>
          </a:prstGeom>
          <a:noFill/>
          <a:ln w="25400">
            <a:solidFill>
              <a:srgbClr val="E7AE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738360" y="1993392"/>
            <a:ext cx="1664208" cy="3547872"/>
          </a:xfrm>
          <a:prstGeom prst="roundRect">
            <a:avLst>
              <a:gd name="adj" fmla="val 7143"/>
            </a:avLst>
          </a:prstGeom>
          <a:solidFill>
            <a:srgbClr val="171717"/>
          </a:solidFill>
          <a:ln w="12700">
            <a:solidFill>
              <a:srgbClr val="E2E2D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966960" y="237744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3가지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기억할 것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948672" y="3246120"/>
            <a:ext cx="1243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CECE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 기준 데이터를 만든다</a:t>
            </a:r>
            <a:endParaRPr lang="en-US" sz="930" dirty="0"/>
          </a:p>
          <a:p>
            <a:pPr marL="0" indent="0" algn="ctr">
              <a:buNone/>
            </a:pPr>
            <a:endParaRPr lang="en-US" sz="930" dirty="0"/>
          </a:p>
          <a:p>
            <a:pPr marL="0" indent="0" algn="ctr">
              <a:buNone/>
            </a:pPr>
            <a:r>
              <a:rPr lang="en-US" sz="930" dirty="0">
                <a:solidFill>
                  <a:srgbClr val="ECECE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 변경을 자동 검증한다</a:t>
            </a:r>
            <a:endParaRPr lang="en-US" sz="930" dirty="0"/>
          </a:p>
          <a:p>
            <a:pPr marL="0" indent="0" algn="ctr">
              <a:buNone/>
            </a:pPr>
            <a:endParaRPr lang="en-US" sz="930" dirty="0"/>
          </a:p>
          <a:p>
            <a:pPr marL="0" indent="0" algn="ctr">
              <a:buNone/>
            </a:pPr>
            <a:r>
              <a:rPr lang="en-US" sz="930" dirty="0">
                <a:solidFill>
                  <a:srgbClr val="ECECE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 운영 실패를 다시 회수한다</a:t>
            </a:r>
            <a:endParaRPr lang="en-US" sz="93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6480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58585"/>
                </a:solidFill>
                <a:latin typeface="Apple SD Gothic Neo"/>
                <a:ea typeface="Apple SD Gothic Neo"/>
                <a:cs typeface="Apple SD Gothic Neo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554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Q&amp;A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5528" y="26517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7A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프롬프트도 코드처럼 테스트한다.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" y="33832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Golden Set · Regression CI · LLM Judge · Prompt Ops · Tracing · Feedback Loop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" y="5943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9B9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LIKELION BACKEND DEEP DIVE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1364</Words>
  <Application>Microsoft Macintosh PowerPoint</Application>
  <PresentationFormat>와이드스크린</PresentationFormat>
  <Paragraphs>306</Paragraphs>
  <Slides>18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Apple SD Gothic Neo</vt:lpstr>
      <vt:lpstr>Arial</vt:lpstr>
      <vt:lpstr>Menlo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LIKELION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앱 평가와 관측</dc:title>
  <dc:subject>LLM 앱 평가와 관측</dc:subject>
  <dc:creator>OpenAI</dc:creator>
  <cp:lastModifiedBy>장선호</cp:lastModifiedBy>
  <cp:revision>2</cp:revision>
  <dcterms:created xsi:type="dcterms:W3CDTF">2026-10-04T09:57:43Z</dcterms:created>
  <dcterms:modified xsi:type="dcterms:W3CDTF">2026-10-05T10:34:40Z</dcterms:modified>
</cp:coreProperties>
</file>